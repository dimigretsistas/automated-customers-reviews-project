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12192000"/>
  <p:embeddedFontLst>
    <p:embeddedFont>
      <p:font typeface="Quattrocento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bold.fntdata"/><Relationship Id="rId11" Type="http://schemas.openxmlformats.org/officeDocument/2006/relationships/slide" Target="slides/slide7.xml"/><Relationship Id="rId22" Type="http://schemas.openxmlformats.org/officeDocument/2006/relationships/font" Target="fonts/QuattrocentoSans-boldItalic.fntdata"/><Relationship Id="rId10" Type="http://schemas.openxmlformats.org/officeDocument/2006/relationships/slide" Target="slides/slide6.xml"/><Relationship Id="rId21" Type="http://schemas.openxmlformats.org/officeDocument/2006/relationships/font" Target="fonts/QuattrocentoSans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QuattrocentoSans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9" Type="http://schemas.openxmlformats.org/officeDocument/2006/relationships/image" Target="../media/image31.png"/><Relationship Id="rId5" Type="http://schemas.openxmlformats.org/officeDocument/2006/relationships/image" Target="../media/image24.png"/><Relationship Id="rId6" Type="http://schemas.openxmlformats.org/officeDocument/2006/relationships/image" Target="../media/image22.png"/><Relationship Id="rId7" Type="http://schemas.openxmlformats.org/officeDocument/2006/relationships/image" Target="../media/image48.png"/><Relationship Id="rId8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2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11" Type="http://schemas.openxmlformats.org/officeDocument/2006/relationships/image" Target="../media/image15.png"/><Relationship Id="rId10" Type="http://schemas.openxmlformats.org/officeDocument/2006/relationships/image" Target="../media/image33.png"/><Relationship Id="rId12" Type="http://schemas.openxmlformats.org/officeDocument/2006/relationships/image" Target="../media/image23.png"/><Relationship Id="rId9" Type="http://schemas.openxmlformats.org/officeDocument/2006/relationships/image" Target="../media/image25.png"/><Relationship Id="rId5" Type="http://schemas.openxmlformats.org/officeDocument/2006/relationships/image" Target="../media/image30.png"/><Relationship Id="rId6" Type="http://schemas.openxmlformats.org/officeDocument/2006/relationships/image" Target="../media/image16.png"/><Relationship Id="rId7" Type="http://schemas.openxmlformats.org/officeDocument/2006/relationships/image" Target="../media/image13.png"/><Relationship Id="rId8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42.png"/><Relationship Id="rId10" Type="http://schemas.openxmlformats.org/officeDocument/2006/relationships/image" Target="../media/image43.png"/><Relationship Id="rId13" Type="http://schemas.openxmlformats.org/officeDocument/2006/relationships/image" Target="../media/image45.png"/><Relationship Id="rId1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39.png"/><Relationship Id="rId15" Type="http://schemas.openxmlformats.org/officeDocument/2006/relationships/image" Target="../media/image70.png"/><Relationship Id="rId14" Type="http://schemas.openxmlformats.org/officeDocument/2006/relationships/image" Target="../media/image57.png"/><Relationship Id="rId17" Type="http://schemas.openxmlformats.org/officeDocument/2006/relationships/image" Target="../media/image64.png"/><Relationship Id="rId16" Type="http://schemas.openxmlformats.org/officeDocument/2006/relationships/image" Target="../media/image56.png"/><Relationship Id="rId5" Type="http://schemas.openxmlformats.org/officeDocument/2006/relationships/image" Target="../media/image21.png"/><Relationship Id="rId6" Type="http://schemas.openxmlformats.org/officeDocument/2006/relationships/image" Target="../media/image26.png"/><Relationship Id="rId18" Type="http://schemas.openxmlformats.org/officeDocument/2006/relationships/image" Target="../media/image49.png"/><Relationship Id="rId7" Type="http://schemas.openxmlformats.org/officeDocument/2006/relationships/image" Target="../media/image17.png"/><Relationship Id="rId8" Type="http://schemas.openxmlformats.org/officeDocument/2006/relationships/image" Target="../media/image36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44.png"/><Relationship Id="rId10" Type="http://schemas.openxmlformats.org/officeDocument/2006/relationships/image" Target="../media/image53.png"/><Relationship Id="rId13" Type="http://schemas.openxmlformats.org/officeDocument/2006/relationships/image" Target="../media/image66.png"/><Relationship Id="rId1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7.png"/><Relationship Id="rId9" Type="http://schemas.openxmlformats.org/officeDocument/2006/relationships/image" Target="../media/image41.png"/><Relationship Id="rId14" Type="http://schemas.openxmlformats.org/officeDocument/2006/relationships/image" Target="../media/image62.png"/><Relationship Id="rId5" Type="http://schemas.openxmlformats.org/officeDocument/2006/relationships/image" Target="../media/image5.png"/><Relationship Id="rId6" Type="http://schemas.openxmlformats.org/officeDocument/2006/relationships/image" Target="../media/image38.png"/><Relationship Id="rId7" Type="http://schemas.openxmlformats.org/officeDocument/2006/relationships/image" Target="../media/image51.png"/><Relationship Id="rId8" Type="http://schemas.openxmlformats.org/officeDocument/2006/relationships/image" Target="../media/image50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84.png"/><Relationship Id="rId10" Type="http://schemas.openxmlformats.org/officeDocument/2006/relationships/image" Target="../media/image72.png"/><Relationship Id="rId13" Type="http://schemas.openxmlformats.org/officeDocument/2006/relationships/image" Target="../media/image81.png"/><Relationship Id="rId12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25.png"/><Relationship Id="rId5" Type="http://schemas.openxmlformats.org/officeDocument/2006/relationships/image" Target="../media/image58.png"/><Relationship Id="rId6" Type="http://schemas.openxmlformats.org/officeDocument/2006/relationships/image" Target="../media/image77.png"/><Relationship Id="rId7" Type="http://schemas.openxmlformats.org/officeDocument/2006/relationships/image" Target="../media/image59.png"/><Relationship Id="rId8" Type="http://schemas.openxmlformats.org/officeDocument/2006/relationships/image" Target="../media/image68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93.png"/><Relationship Id="rId10" Type="http://schemas.openxmlformats.org/officeDocument/2006/relationships/image" Target="../media/image74.png"/><Relationship Id="rId13" Type="http://schemas.openxmlformats.org/officeDocument/2006/relationships/image" Target="../media/image94.png"/><Relationship Id="rId1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89.png"/><Relationship Id="rId15" Type="http://schemas.openxmlformats.org/officeDocument/2006/relationships/image" Target="../media/image105.png"/><Relationship Id="rId14" Type="http://schemas.openxmlformats.org/officeDocument/2006/relationships/image" Target="../media/image71.png"/><Relationship Id="rId16" Type="http://schemas.openxmlformats.org/officeDocument/2006/relationships/image" Target="../media/image96.png"/><Relationship Id="rId5" Type="http://schemas.openxmlformats.org/officeDocument/2006/relationships/image" Target="../media/image73.png"/><Relationship Id="rId6" Type="http://schemas.openxmlformats.org/officeDocument/2006/relationships/image" Target="../media/image87.png"/><Relationship Id="rId7" Type="http://schemas.openxmlformats.org/officeDocument/2006/relationships/image" Target="../media/image88.png"/><Relationship Id="rId8" Type="http://schemas.openxmlformats.org/officeDocument/2006/relationships/image" Target="../media/image80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6.png"/><Relationship Id="rId10" Type="http://schemas.openxmlformats.org/officeDocument/2006/relationships/image" Target="../media/image110.png"/><Relationship Id="rId13" Type="http://schemas.openxmlformats.org/officeDocument/2006/relationships/image" Target="../media/image108.png"/><Relationship Id="rId12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25.png"/><Relationship Id="rId15" Type="http://schemas.openxmlformats.org/officeDocument/2006/relationships/image" Target="../media/image102.png"/><Relationship Id="rId14" Type="http://schemas.openxmlformats.org/officeDocument/2006/relationships/image" Target="../media/image98.png"/><Relationship Id="rId16" Type="http://schemas.openxmlformats.org/officeDocument/2006/relationships/image" Target="../media/image139.png"/><Relationship Id="rId5" Type="http://schemas.openxmlformats.org/officeDocument/2006/relationships/image" Target="../media/image85.png"/><Relationship Id="rId6" Type="http://schemas.openxmlformats.org/officeDocument/2006/relationships/image" Target="../media/image171.png"/><Relationship Id="rId7" Type="http://schemas.openxmlformats.org/officeDocument/2006/relationships/image" Target="../media/image90.png"/><Relationship Id="rId8" Type="http://schemas.openxmlformats.org/officeDocument/2006/relationships/image" Target="../media/image101.png"/></Relationships>
</file>

<file path=ppt/slides/_rels/slide9.xml.rels><?xml version="1.0" encoding="UTF-8" standalone="yes"?><Relationships xmlns="http://schemas.openxmlformats.org/package/2006/relationships"><Relationship Id="rId20" Type="http://schemas.openxmlformats.org/officeDocument/2006/relationships/image" Target="../media/image166.png"/><Relationship Id="rId11" Type="http://schemas.openxmlformats.org/officeDocument/2006/relationships/image" Target="../media/image118.png"/><Relationship Id="rId10" Type="http://schemas.openxmlformats.org/officeDocument/2006/relationships/image" Target="../media/image134.png"/><Relationship Id="rId13" Type="http://schemas.openxmlformats.org/officeDocument/2006/relationships/image" Target="../media/image107.png"/><Relationship Id="rId12" Type="http://schemas.openxmlformats.org/officeDocument/2006/relationships/image" Target="../media/image15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111.png"/><Relationship Id="rId15" Type="http://schemas.openxmlformats.org/officeDocument/2006/relationships/image" Target="../media/image125.png"/><Relationship Id="rId14" Type="http://schemas.openxmlformats.org/officeDocument/2006/relationships/image" Target="../media/image25.png"/><Relationship Id="rId17" Type="http://schemas.openxmlformats.org/officeDocument/2006/relationships/image" Target="../media/image140.png"/><Relationship Id="rId16" Type="http://schemas.openxmlformats.org/officeDocument/2006/relationships/image" Target="../media/image113.png"/><Relationship Id="rId5" Type="http://schemas.openxmlformats.org/officeDocument/2006/relationships/image" Target="../media/image162.png"/><Relationship Id="rId19" Type="http://schemas.openxmlformats.org/officeDocument/2006/relationships/image" Target="../media/image149.png"/><Relationship Id="rId6" Type="http://schemas.openxmlformats.org/officeDocument/2006/relationships/image" Target="../media/image117.png"/><Relationship Id="rId18" Type="http://schemas.openxmlformats.org/officeDocument/2006/relationships/image" Target="../media/image122.png"/><Relationship Id="rId7" Type="http://schemas.openxmlformats.org/officeDocument/2006/relationships/image" Target="../media/image99.png"/><Relationship Id="rId8" Type="http://schemas.openxmlformats.org/officeDocument/2006/relationships/image" Target="../media/image106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25.png"/><Relationship Id="rId10" Type="http://schemas.openxmlformats.org/officeDocument/2006/relationships/image" Target="../media/image144.png"/><Relationship Id="rId13" Type="http://schemas.openxmlformats.org/officeDocument/2006/relationships/image" Target="../media/image72.png"/><Relationship Id="rId12" Type="http://schemas.openxmlformats.org/officeDocument/2006/relationships/image" Target="../media/image14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133.png"/><Relationship Id="rId15" Type="http://schemas.openxmlformats.org/officeDocument/2006/relationships/image" Target="../media/image143.png"/><Relationship Id="rId14" Type="http://schemas.openxmlformats.org/officeDocument/2006/relationships/image" Target="../media/image84.png"/><Relationship Id="rId17" Type="http://schemas.openxmlformats.org/officeDocument/2006/relationships/image" Target="../media/image145.png"/><Relationship Id="rId16" Type="http://schemas.openxmlformats.org/officeDocument/2006/relationships/image" Target="../media/image81.png"/><Relationship Id="rId5" Type="http://schemas.openxmlformats.org/officeDocument/2006/relationships/image" Target="../media/image132.png"/><Relationship Id="rId6" Type="http://schemas.openxmlformats.org/officeDocument/2006/relationships/image" Target="../media/image141.png"/><Relationship Id="rId7" Type="http://schemas.openxmlformats.org/officeDocument/2006/relationships/image" Target="../media/image130.png"/><Relationship Id="rId8" Type="http://schemas.openxmlformats.org/officeDocument/2006/relationships/image" Target="../media/image127.png"/></Relationships>
</file>

<file path=ppt/slides/_rels/slide1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91.png"/><Relationship Id="rId11" Type="http://schemas.openxmlformats.org/officeDocument/2006/relationships/image" Target="../media/image188.png"/><Relationship Id="rId22" Type="http://schemas.openxmlformats.org/officeDocument/2006/relationships/image" Target="../media/image167.png"/><Relationship Id="rId10" Type="http://schemas.openxmlformats.org/officeDocument/2006/relationships/image" Target="../media/image153.png"/><Relationship Id="rId21" Type="http://schemas.openxmlformats.org/officeDocument/2006/relationships/image" Target="../media/image155.png"/><Relationship Id="rId13" Type="http://schemas.openxmlformats.org/officeDocument/2006/relationships/image" Target="../media/image152.png"/><Relationship Id="rId24" Type="http://schemas.openxmlformats.org/officeDocument/2006/relationships/image" Target="../media/image173.png"/><Relationship Id="rId12" Type="http://schemas.openxmlformats.org/officeDocument/2006/relationships/image" Target="../media/image164.png"/><Relationship Id="rId23" Type="http://schemas.openxmlformats.org/officeDocument/2006/relationships/image" Target="../media/image17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165.png"/><Relationship Id="rId15" Type="http://schemas.openxmlformats.org/officeDocument/2006/relationships/image" Target="../media/image148.png"/><Relationship Id="rId14" Type="http://schemas.openxmlformats.org/officeDocument/2006/relationships/image" Target="../media/image156.png"/><Relationship Id="rId17" Type="http://schemas.openxmlformats.org/officeDocument/2006/relationships/image" Target="../media/image157.png"/><Relationship Id="rId16" Type="http://schemas.openxmlformats.org/officeDocument/2006/relationships/image" Target="../media/image25.png"/><Relationship Id="rId5" Type="http://schemas.openxmlformats.org/officeDocument/2006/relationships/image" Target="../media/image146.png"/><Relationship Id="rId19" Type="http://schemas.openxmlformats.org/officeDocument/2006/relationships/image" Target="../media/image168.png"/><Relationship Id="rId6" Type="http://schemas.openxmlformats.org/officeDocument/2006/relationships/image" Target="../media/image150.png"/><Relationship Id="rId18" Type="http://schemas.openxmlformats.org/officeDocument/2006/relationships/image" Target="../media/image175.png"/><Relationship Id="rId7" Type="http://schemas.openxmlformats.org/officeDocument/2006/relationships/image" Target="../media/image151.png"/><Relationship Id="rId8" Type="http://schemas.openxmlformats.org/officeDocument/2006/relationships/image" Target="../media/image158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6.png"/><Relationship Id="rId10" Type="http://schemas.openxmlformats.org/officeDocument/2006/relationships/image" Target="../media/image181.png"/><Relationship Id="rId13" Type="http://schemas.openxmlformats.org/officeDocument/2006/relationships/image" Target="../media/image183.png"/><Relationship Id="rId1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178.png"/><Relationship Id="rId15" Type="http://schemas.openxmlformats.org/officeDocument/2006/relationships/image" Target="../media/image180.png"/><Relationship Id="rId14" Type="http://schemas.openxmlformats.org/officeDocument/2006/relationships/image" Target="../media/image190.png"/><Relationship Id="rId16" Type="http://schemas.openxmlformats.org/officeDocument/2006/relationships/image" Target="../media/image202.png"/><Relationship Id="rId5" Type="http://schemas.openxmlformats.org/officeDocument/2006/relationships/image" Target="../media/image163.png"/><Relationship Id="rId6" Type="http://schemas.openxmlformats.org/officeDocument/2006/relationships/image" Target="../media/image186.png"/><Relationship Id="rId7" Type="http://schemas.openxmlformats.org/officeDocument/2006/relationships/image" Target="../media/image184.png"/><Relationship Id="rId8" Type="http://schemas.openxmlformats.org/officeDocument/2006/relationships/image" Target="../media/image198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hyperlink" Target="http://drive.google.com/file/d/1fvlnhBJxPdzOSsFlLS80YiyEMgRegCOw/view" TargetMode="External"/><Relationship Id="rId10" Type="http://schemas.openxmlformats.org/officeDocument/2006/relationships/image" Target="../media/image204.png"/><Relationship Id="rId12" Type="http://schemas.openxmlformats.org/officeDocument/2006/relationships/image" Target="../media/image18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140.png"/><Relationship Id="rId5" Type="http://schemas.openxmlformats.org/officeDocument/2006/relationships/image" Target="../media/image195.png"/><Relationship Id="rId6" Type="http://schemas.openxmlformats.org/officeDocument/2006/relationships/image" Target="../media/image25.png"/><Relationship Id="rId7" Type="http://schemas.openxmlformats.org/officeDocument/2006/relationships/image" Target="../media/image196.png"/><Relationship Id="rId8" Type="http://schemas.openxmlformats.org/officeDocument/2006/relationships/image" Target="../media/image20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03.png"/><Relationship Id="rId5" Type="http://schemas.openxmlformats.org/officeDocument/2006/relationships/image" Target="../media/image37.png"/><Relationship Id="rId6" Type="http://schemas.openxmlformats.org/officeDocument/2006/relationships/image" Target="../media/image19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" name="Google Shape;1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" name="Google Shape;1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00725" y="85725"/>
            <a:ext cx="4019550" cy="401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" name="Google Shape;2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28725" y="3924300"/>
            <a:ext cx="47434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" name="Google Shape;21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67475" y="1800225"/>
            <a:ext cx="5705475" cy="40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>
            <a:off x="1238250" y="2281238"/>
            <a:ext cx="54864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5100"/>
              <a:buFont typeface="Quattrocento Sans"/>
              <a:buNone/>
            </a:pPr>
            <a:r>
              <a:rPr b="1" i="0" lang="en-US" sz="51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ReviewSense AI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238250" y="3290888"/>
            <a:ext cx="5486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62A"/>
              </a:buClr>
              <a:buSzPts val="2100"/>
              <a:buFont typeface="Quattrocento Sans"/>
              <a:buNone/>
            </a:pPr>
            <a:r>
              <a:rPr b="1" i="0" lang="en-US" sz="2100" u="none" cap="none" strike="noStrike">
                <a:solidFill>
                  <a:srgbClr val="164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Engineer Bootcamp Project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" name="Google Shape;24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28725" y="4162425"/>
            <a:ext cx="4743450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/>
          <p:nvPr/>
        </p:nvSpPr>
        <p:spPr>
          <a:xfrm>
            <a:off x="1390650" y="4252913"/>
            <a:ext cx="441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143F26"/>
                </a:solidFill>
                <a:highlight>
                  <a:srgbClr val="DDF3AB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From 50,000+ Reviews to 1 Smart Recommendation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6;p3" title="no backgroud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64875" y="661500"/>
            <a:ext cx="5734950" cy="604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" name="Google Shape;3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" name="Google Shape;3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9675" y="0"/>
            <a:ext cx="3362325" cy="3362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" name="Google Shape;3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475" y="1362075"/>
            <a:ext cx="268605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" name="Google Shape;3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2475" y="6210300"/>
            <a:ext cx="1068705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/>
          <p:nvPr/>
        </p:nvSpPr>
        <p:spPr>
          <a:xfrm>
            <a:off x="762000" y="7620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3400"/>
              <a:buFont typeface="Quattrocento Sans"/>
              <a:buNone/>
            </a:pPr>
            <a:r>
              <a:rPr b="1" i="0" lang="en-US" sz="34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Contents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2438400" y="2919413"/>
            <a:ext cx="32766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Pitch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2438400" y="3438525"/>
            <a:ext cx="32766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Introduction &amp; Methodology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2438400" y="3957638"/>
            <a:ext cx="32766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Methods &amp; Dataset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2438400" y="4476750"/>
            <a:ext cx="32766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DistilBERT Classifier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7086600" y="2919413"/>
            <a:ext cx="32766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Clusterer 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7086600" y="3438525"/>
            <a:ext cx="32766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Generative AI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086600" y="3957638"/>
            <a:ext cx="32766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Results &amp; Takeaway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828800" y="288369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828800" y="340280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828800" y="3921919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828800" y="4441031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477000" y="288369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700"/>
              <a:buFont typeface="Quattrocento Sans"/>
              <a:buNone/>
            </a:pPr>
            <a:r>
              <a:rPr b="1" lang="en-US" sz="1700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477000" y="340280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700"/>
              <a:buFont typeface="Quattrocento Sans"/>
              <a:buNone/>
            </a:pPr>
            <a:r>
              <a:rPr b="1" lang="en-US" sz="1700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6477000" y="3921919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700"/>
              <a:buFont typeface="Quattrocento Sans"/>
              <a:buNone/>
            </a:pPr>
            <a:r>
              <a:rPr b="1" lang="en-US" sz="1700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07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6477000" y="4441031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700"/>
              <a:buFont typeface="Quattrocento Sans"/>
              <a:buNone/>
            </a:pPr>
            <a:r>
              <a:rPr b="1" lang="en-US" sz="1700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08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7086600" y="4476750"/>
            <a:ext cx="32766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Live Demo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762000" y="6381750"/>
            <a:ext cx="1466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Engineer Bootcamp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11268075" y="6381750"/>
            <a:ext cx="1619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1" name="Google Shape;6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" name="Google Shape;6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3" name="Google Shape;6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475" y="1333500"/>
            <a:ext cx="268605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" name="Google Shape;6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1075" y="2533650"/>
            <a:ext cx="312420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5" name="Google Shape;6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33900" y="2533650"/>
            <a:ext cx="312420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6" name="Google Shape;66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86725" y="2533650"/>
            <a:ext cx="312420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7" name="Google Shape;67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04975" y="4572000"/>
            <a:ext cx="878205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8" name="Google Shape;68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2475" y="6248400"/>
            <a:ext cx="1068705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5"/>
          <p:cNvSpPr/>
          <p:nvPr/>
        </p:nvSpPr>
        <p:spPr>
          <a:xfrm>
            <a:off x="762000" y="762000"/>
            <a:ext cx="10668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2500"/>
              <a:buFont typeface="Quattrocento Sans"/>
              <a:buNone/>
            </a:pPr>
            <a:r>
              <a:rPr b="1" i="0" lang="en-US" sz="25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ReviewSense AI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3014663" y="1514475"/>
            <a:ext cx="61626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2100"/>
              <a:buFont typeface="Quattrocento Sans"/>
              <a:buNone/>
            </a:pPr>
            <a:r>
              <a:rPr b="1" i="0" lang="en-US" sz="21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Goal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3014663" y="1933575"/>
            <a:ext cx="6162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62A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164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From </a:t>
            </a:r>
            <a:r>
              <a:rPr b="1" i="0" lang="en-US" sz="1700" u="none" cap="none" strike="noStrike">
                <a:solidFill>
                  <a:srgbClr val="DDF3AB"/>
                </a:solidFill>
                <a:highlight>
                  <a:srgbClr val="143F26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50,000+ Reviews</a:t>
            </a:r>
            <a:r>
              <a:rPr b="1" i="0" lang="en-US" sz="1700" u="none" cap="none" strike="noStrike">
                <a:solidFill>
                  <a:srgbClr val="164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to 1 Smart Recommendation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" name="Google Shape;72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352675" y="2771775"/>
            <a:ext cx="37147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/>
          <p:nvPr/>
        </p:nvSpPr>
        <p:spPr>
          <a:xfrm>
            <a:off x="1582638" y="3276600"/>
            <a:ext cx="19145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Sentiment Analysis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2149376" y="3619500"/>
            <a:ext cx="7810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(DistilBERT)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" name="Google Shape;75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86450" y="2771775"/>
            <a:ext cx="4191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5"/>
          <p:cNvSpPr/>
          <p:nvPr/>
        </p:nvSpPr>
        <p:spPr>
          <a:xfrm>
            <a:off x="5162401" y="3276600"/>
            <a:ext cx="1866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 Clustering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462439" y="3619500"/>
            <a:ext cx="12668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(MiniLM + KMeans)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8" name="Google Shape;78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420225" y="2771775"/>
            <a:ext cx="4572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5"/>
          <p:cNvSpPr/>
          <p:nvPr/>
        </p:nvSpPr>
        <p:spPr>
          <a:xfrm>
            <a:off x="8340626" y="3276600"/>
            <a:ext cx="2622649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AI-Generated Buying Recommendations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9113788" y="3886200"/>
            <a:ext cx="10763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(Generative AI)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2133600" y="4848225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F3AB"/>
              </a:buClr>
              <a:buSzPts val="1700"/>
              <a:buFont typeface="Quattrocento Sans"/>
              <a:buNone/>
            </a:pPr>
            <a:r>
              <a:rPr b="1" i="1" lang="en-US" sz="1700" u="none" cap="none" strike="noStrike">
                <a:solidFill>
                  <a:srgbClr val="DDF3A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"Stop reading thousands of reviews. Let AI summarize them for you."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762000" y="6419850"/>
            <a:ext cx="1466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Engineer Bootcamp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11268075" y="6419850"/>
            <a:ext cx="1619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9" name="Google Shape;8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0" name="Google Shape;9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1" name="Google Shape;9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475" y="1333500"/>
            <a:ext cx="268605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2" name="Google Shape;9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00175" y="2114550"/>
            <a:ext cx="382905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3" name="Google Shape;9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86125" y="3314700"/>
            <a:ext cx="571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4" name="Google Shape;94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2700000">
            <a:off x="3248025" y="344805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5" name="Google Shape;9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00175" y="3505200"/>
            <a:ext cx="382905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6" name="Google Shape;9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86125" y="4705350"/>
            <a:ext cx="571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7" name="Google Shape;97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2700000">
            <a:off x="3248025" y="483870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8" name="Google Shape;98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00175" y="4895850"/>
            <a:ext cx="382905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9" name="Google Shape;99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15075" y="3114675"/>
            <a:ext cx="40005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0" name="Google Shape;100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315075" y="3857625"/>
            <a:ext cx="40005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1" name="Google Shape;101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15075" y="4610100"/>
            <a:ext cx="40005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2" name="Google Shape;102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52475" y="6248400"/>
            <a:ext cx="1068705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6"/>
          <p:cNvSpPr/>
          <p:nvPr/>
        </p:nvSpPr>
        <p:spPr>
          <a:xfrm>
            <a:off x="762000" y="762000"/>
            <a:ext cx="10668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2500"/>
              <a:buFont typeface="Quattrocento Sans"/>
              <a:buNone/>
            </a:pPr>
            <a:r>
              <a:rPr b="1" i="0" lang="en-US" sz="25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Project Overview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762000" y="1666875"/>
            <a:ext cx="510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Pipeline Architecture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" name="Google Shape;105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190875" y="2238375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6"/>
          <p:cNvSpPr/>
          <p:nvPr/>
        </p:nvSpPr>
        <p:spPr>
          <a:xfrm>
            <a:off x="1533525" y="2552700"/>
            <a:ext cx="35623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DistilBERT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1533525" y="2819400"/>
            <a:ext cx="3562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Classifies customer sentiment (Positive, Neutral, Negative)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8" name="Google Shape;108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171825" y="3629025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6"/>
          <p:cNvSpPr/>
          <p:nvPr/>
        </p:nvSpPr>
        <p:spPr>
          <a:xfrm>
            <a:off x="1533525" y="3943350"/>
            <a:ext cx="35623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MiniLM + KMeans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1533525" y="4210050"/>
            <a:ext cx="3562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Embeddings and clustering group similar reviews into broader product categories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6" title="chat-gpt.png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190875" y="5019675"/>
            <a:ext cx="247651" cy="24765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6"/>
          <p:cNvSpPr/>
          <p:nvPr/>
        </p:nvSpPr>
        <p:spPr>
          <a:xfrm>
            <a:off x="1533525" y="5334000"/>
            <a:ext cx="35623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1" lang="en-US" sz="1200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GPT 4.1 mini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1533525" y="5600700"/>
            <a:ext cx="3562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00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Generates actionable product recommendations and insights based on sentiment and clustered review data</a:t>
            </a:r>
            <a:endParaRPr b="1" sz="900">
              <a:solidFill>
                <a:srgbClr val="194E2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900"/>
              <a:buFont typeface="Quattrocento Sans"/>
              <a:buNone/>
            </a:pPr>
            <a:r>
              <a:t/>
            </a:r>
            <a:endParaRPr b="1" sz="900">
              <a:solidFill>
                <a:srgbClr val="194E2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6324600" y="2631281"/>
            <a:ext cx="510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Methodology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" name="Google Shape;115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419850" y="3228975"/>
            <a:ext cx="1905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6"/>
          <p:cNvSpPr/>
          <p:nvPr/>
        </p:nvSpPr>
        <p:spPr>
          <a:xfrm>
            <a:off x="6858000" y="3088481"/>
            <a:ext cx="4572000" cy="557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Combines multiple AI models into one end-to-end review analysis pipeline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7" name="Google Shape;117;p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410325" y="3971925"/>
            <a:ext cx="2095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6"/>
          <p:cNvSpPr/>
          <p:nvPr/>
        </p:nvSpPr>
        <p:spPr>
          <a:xfrm>
            <a:off x="6858000" y="3836194"/>
            <a:ext cx="4572000" cy="557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Structured insights are used by Generative AI models to create short recommendation articles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9" name="Google Shape;119;p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448425" y="4724400"/>
            <a:ext cx="1333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6"/>
          <p:cNvSpPr/>
          <p:nvPr/>
        </p:nvSpPr>
        <p:spPr>
          <a:xfrm>
            <a:off x="6858000" y="4583906"/>
            <a:ext cx="4572000" cy="557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Output:</a:t>
            </a:r>
            <a:r>
              <a:rPr b="0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Top products, common complaints, and smart buying recommendations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762000" y="6419850"/>
            <a:ext cx="1466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Engineer Bootcamp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11249025" y="6419850"/>
            <a:ext cx="1809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8" name="Google Shape;12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9" name="Google Shape;12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0" name="Google Shape;13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9675" y="3495675"/>
            <a:ext cx="3362325" cy="3362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1" name="Google Shape;13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475" y="1333500"/>
            <a:ext cx="268605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2" name="Google Shape;13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2206058"/>
            <a:ext cx="952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3" name="Google Shape;133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38875" y="2600325"/>
            <a:ext cx="9525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4" name="Google Shape;134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2475" y="3590925"/>
            <a:ext cx="106870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5" name="Google Shape;135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2475" y="6572250"/>
            <a:ext cx="106870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7"/>
          <p:cNvSpPr/>
          <p:nvPr/>
        </p:nvSpPr>
        <p:spPr>
          <a:xfrm>
            <a:off x="762000" y="762000"/>
            <a:ext cx="10668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2500"/>
              <a:buFont typeface="Quattrocento Sans"/>
              <a:buNone/>
            </a:pPr>
            <a:r>
              <a:rPr b="1" i="0" lang="en-US" sz="25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METHODS &amp; DATASET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7" name="Google Shape;137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52475" y="1619250"/>
            <a:ext cx="11811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7"/>
          <p:cNvSpPr/>
          <p:nvPr/>
        </p:nvSpPr>
        <p:spPr>
          <a:xfrm>
            <a:off x="876300" y="1666875"/>
            <a:ext cx="933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143F26"/>
                </a:solidFill>
                <a:highlight>
                  <a:srgbClr val="DDF3AB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Overview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762000" y="2047875"/>
            <a:ext cx="5181600" cy="433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Built an end-to-end NLP pipeline combining preprocessing, sentiment classification, semantic clustering, and Generative AI summarization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0" name="Google Shape;140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52475" y="2581275"/>
            <a:ext cx="10382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7"/>
          <p:cNvSpPr/>
          <p:nvPr/>
        </p:nvSpPr>
        <p:spPr>
          <a:xfrm>
            <a:off x="876300" y="2633663"/>
            <a:ext cx="7905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143F26"/>
                </a:solidFill>
                <a:highlight>
                  <a:srgbClr val="DDF3AB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Dataset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762000" y="3014663"/>
            <a:ext cx="5181600" cy="433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Amazon Reviews dataset containing product reviews, ratings, product names, and customer feedback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3" name="Google Shape;143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238875" y="1619250"/>
            <a:ext cx="166687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7"/>
          <p:cNvSpPr/>
          <p:nvPr/>
        </p:nvSpPr>
        <p:spPr>
          <a:xfrm>
            <a:off x="6362700" y="1666875"/>
            <a:ext cx="14192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143F26"/>
                </a:solidFill>
                <a:highlight>
                  <a:srgbClr val="DDF3AB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Preprocessing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6438900" y="2047875"/>
            <a:ext cx="4991100" cy="433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Cleaned review text by removing special characters, line breaks, punctuation, </a:t>
            </a:r>
            <a:r>
              <a:rPr lang="en-US" sz="900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sentences shorter than 10 letters and </a:t>
            </a:r>
            <a:r>
              <a:rPr b="0" i="0" lang="en-US" sz="9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inconsistent formatting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6438900" y="2557463"/>
            <a:ext cx="2257425" cy="216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Standardized text for model input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7" name="Google Shape;147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37050" y="3785250"/>
            <a:ext cx="4724400" cy="230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7"/>
          <p:cNvSpPr/>
          <p:nvPr/>
        </p:nvSpPr>
        <p:spPr>
          <a:xfrm>
            <a:off x="4910138" y="6124426"/>
            <a:ext cx="23717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800"/>
              <a:buFont typeface="Quattrocento Sans"/>
              <a:buNone/>
            </a:pPr>
            <a:r>
              <a:rPr b="0" i="0" lang="en-US" sz="8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Special Characters Before Preprocessing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762000" y="6753076"/>
            <a:ext cx="1466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Engineer Bootcamp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11353800" y="6753076"/>
            <a:ext cx="76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7" title="Screenshot 2026-05-07 at 12.52.06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180875" y="3785250"/>
            <a:ext cx="4724400" cy="230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7" name="Google Shape;15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8" name="Google Shape;15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9" name="Google Shape;15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475" y="1333500"/>
            <a:ext cx="268605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0" name="Google Shape;16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475" y="2124075"/>
            <a:ext cx="5133975" cy="3638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1" name="Google Shape;16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24384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2" name="Google Shape;162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34100" y="1933575"/>
            <a:ext cx="5495925" cy="421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3" name="Google Shape;163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29400" y="24288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4" name="Google Shape;164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2475" y="6210300"/>
            <a:ext cx="1068705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8"/>
          <p:cNvSpPr/>
          <p:nvPr/>
        </p:nvSpPr>
        <p:spPr>
          <a:xfrm>
            <a:off x="762000" y="762000"/>
            <a:ext cx="10668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2500"/>
              <a:buFont typeface="Quattrocento Sans"/>
              <a:buNone/>
            </a:pPr>
            <a:r>
              <a:rPr b="1" i="0" lang="en-US" sz="25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 1: DistilBERT Sentiment Classifier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6" name="Google Shape;166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81100" y="2552700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/>
          <p:nvPr/>
        </p:nvSpPr>
        <p:spPr>
          <a:xfrm>
            <a:off x="1685925" y="2524125"/>
            <a:ext cx="147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Problem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8" name="Google Shape;168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66800" y="3300413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8"/>
          <p:cNvSpPr/>
          <p:nvPr/>
        </p:nvSpPr>
        <p:spPr>
          <a:xfrm>
            <a:off x="1362075" y="3133725"/>
            <a:ext cx="42005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Customer reviews are highly unstructured and difficult to analyze manually at scale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0" name="Google Shape;170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66800" y="4015808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8"/>
          <p:cNvSpPr/>
          <p:nvPr/>
        </p:nvSpPr>
        <p:spPr>
          <a:xfrm>
            <a:off x="1362075" y="3857625"/>
            <a:ext cx="42005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Companies need to automatically understand whether feedback is positive, neutral, or negative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2" name="Google Shape;172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66800" y="4748213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8"/>
          <p:cNvSpPr/>
          <p:nvPr/>
        </p:nvSpPr>
        <p:spPr>
          <a:xfrm>
            <a:off x="1362075" y="4581525"/>
            <a:ext cx="42005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Manual analysis is time-consuming and inconsistent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4" name="Google Shape;174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743700" y="2543175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"/>
          <p:cNvSpPr/>
          <p:nvPr/>
        </p:nvSpPr>
        <p:spPr>
          <a:xfrm>
            <a:off x="7248525" y="2514600"/>
            <a:ext cx="1466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F3AB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DDF3A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Solution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6" name="Google Shape;176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29400" y="3307896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8"/>
          <p:cNvSpPr/>
          <p:nvPr/>
        </p:nvSpPr>
        <p:spPr>
          <a:xfrm>
            <a:off x="6905625" y="3124200"/>
            <a:ext cx="42195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Used DistilBERT, a transformer-based NLP model for sentiment classification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8" name="Google Shape;178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29400" y="3997779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8"/>
          <p:cNvSpPr/>
          <p:nvPr/>
        </p:nvSpPr>
        <p:spPr>
          <a:xfrm>
            <a:off x="6905625" y="3848100"/>
            <a:ext cx="42195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DistilBERT? Lightweight, fast, and highly effective for text classification tasks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0" name="Google Shape;180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29400" y="4908777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8"/>
          <p:cNvSpPr/>
          <p:nvPr/>
        </p:nvSpPr>
        <p:spPr>
          <a:xfrm>
            <a:off x="6905625" y="4572000"/>
            <a:ext cx="4219575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Reviews were cleaned and labeled using review ratings, then used to train and evaluate the 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762000" y="6381750"/>
            <a:ext cx="1466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Engineer Bootcamp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11258550" y="6381750"/>
            <a:ext cx="1714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9" name="Google Shape;18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0" name="Google Shape;19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1" name="Google Shape;19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475" y="1333500"/>
            <a:ext cx="268605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2" name="Google Shape;19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475" y="2514600"/>
            <a:ext cx="277177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3" name="Google Shape;193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57600" y="2514600"/>
            <a:ext cx="277177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4" name="Google Shape;19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475" y="3562350"/>
            <a:ext cx="277177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5" name="Google Shape;19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57600" y="3562350"/>
            <a:ext cx="277177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6" name="Google Shape;196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91325" y="1952625"/>
            <a:ext cx="4648200" cy="3829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7" name="Google Shape;197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62775" y="212407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8" name="Google Shape;198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096625" y="212407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9" name="Google Shape;199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962775" y="543877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0" name="Google Shape;200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096625" y="543877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1" name="Google Shape;201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52475" y="6210300"/>
            <a:ext cx="1068705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9"/>
          <p:cNvSpPr/>
          <p:nvPr/>
        </p:nvSpPr>
        <p:spPr>
          <a:xfrm>
            <a:off x="762000" y="762000"/>
            <a:ext cx="10668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2500"/>
              <a:buFont typeface="Quattrocento Sans"/>
              <a:buNone/>
            </a:pPr>
            <a:r>
              <a:rPr b="1" i="0" lang="en-US" sz="25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DistilBERT Performance Results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762000" y="1666875"/>
            <a:ext cx="56578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F3AB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DDF3AB"/>
                </a:solidFill>
                <a:highlight>
                  <a:srgbClr val="143F26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Results</a:t>
            </a:r>
            <a:r>
              <a:rPr b="1" i="0" lang="en-US" sz="14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DistilBERT achieved strong classification performance with approximately 95% accuracy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1730573" y="2686050"/>
            <a:ext cx="815429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5A36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1C5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Accuracy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1743075" y="2914650"/>
            <a:ext cx="7905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2100"/>
              <a:buFont typeface="Quattrocento Sans"/>
              <a:buNone/>
            </a:pPr>
            <a:r>
              <a:rPr b="1" i="0" lang="en-US" sz="21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0.953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4656237" y="2686050"/>
            <a:ext cx="77450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5A36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1C5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Precision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4633913" y="2914650"/>
            <a:ext cx="819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2100"/>
              <a:buFont typeface="Quattrocento Sans"/>
              <a:buNone/>
            </a:pPr>
            <a:r>
              <a:rPr b="1" i="0" lang="en-US" sz="21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0.946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1875383" y="3733800"/>
            <a:ext cx="52581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5A36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1C5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1743075" y="3962400"/>
            <a:ext cx="7905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2100"/>
              <a:buFont typeface="Quattrocento Sans"/>
              <a:buNone/>
            </a:pPr>
            <a:r>
              <a:rPr b="1" i="0" lang="en-US" sz="21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0.953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4688086" y="3733800"/>
            <a:ext cx="710654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5A36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1C5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F1-score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4633913" y="3962400"/>
            <a:ext cx="819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2100"/>
              <a:buFont typeface="Quattrocento Sans"/>
              <a:buNone/>
            </a:pPr>
            <a:r>
              <a:rPr b="1" i="0" lang="en-US" sz="21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0.948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971550" y="4648200"/>
            <a:ext cx="11715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It Works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3" name="Google Shape;213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52475" y="4676775"/>
            <a:ext cx="1524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9"/>
          <p:cNvSpPr/>
          <p:nvPr/>
        </p:nvSpPr>
        <p:spPr>
          <a:xfrm>
            <a:off x="762000" y="4905375"/>
            <a:ext cx="56578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DistilBERT understands word context and sentence meaning, helping detect sentiment more accurately even in complex reviews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971550" y="5562600"/>
            <a:ext cx="16954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Evaluation Method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6" name="Google Shape;216;p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52475" y="5591175"/>
            <a:ext cx="1524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9"/>
          <p:cNvSpPr/>
          <p:nvPr/>
        </p:nvSpPr>
        <p:spPr>
          <a:xfrm>
            <a:off x="762000" y="5819775"/>
            <a:ext cx="5657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Evaluated using Accuracy, Precision, Recall, F1-score, and confusion matrix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8" name="Google Shape;218;p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782050" y="3133725"/>
            <a:ext cx="66675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9"/>
          <p:cNvSpPr/>
          <p:nvPr/>
        </p:nvSpPr>
        <p:spPr>
          <a:xfrm>
            <a:off x="7458075" y="3867150"/>
            <a:ext cx="3314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Chart: Confusion matrix visualization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7048500" y="4210050"/>
            <a:ext cx="41338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804C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8804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(User will upload chart showing classification performance across sentiment categories)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762000" y="6381750"/>
            <a:ext cx="1466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Engineer Bootcamp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11258550" y="6381750"/>
            <a:ext cx="1714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9" title="Screenshot 2026-05-07 at 17.13.04.png"/>
          <p:cNvPicPr preferRelativeResize="0"/>
          <p:nvPr/>
        </p:nvPicPr>
        <p:blipFill rotWithShape="1">
          <a:blip r:embed="rId16">
            <a:alphaModFix/>
          </a:blip>
          <a:srcRect b="0" l="7280" r="7280" t="0"/>
          <a:stretch/>
        </p:blipFill>
        <p:spPr>
          <a:xfrm>
            <a:off x="7030000" y="2172825"/>
            <a:ext cx="4170850" cy="338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9" name="Google Shape;22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0" name="Google Shape;23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1" name="Google Shape;23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475" y="1333500"/>
            <a:ext cx="268605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2" name="Google Shape;23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475" y="1647825"/>
            <a:ext cx="17049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3" name="Google Shape;23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1647825"/>
            <a:ext cx="16954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4" name="Google Shape;234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475" y="4848225"/>
            <a:ext cx="3476625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5" name="Google Shape;235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52925" y="4848225"/>
            <a:ext cx="3486150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6" name="Google Shape;236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62900" y="4848225"/>
            <a:ext cx="3476625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7" name="Google Shape;237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2475" y="6210300"/>
            <a:ext cx="1068705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0"/>
          <p:cNvSpPr/>
          <p:nvPr/>
        </p:nvSpPr>
        <p:spPr>
          <a:xfrm>
            <a:off x="762000" y="762000"/>
            <a:ext cx="10668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2500"/>
              <a:buFont typeface="Quattrocento Sans"/>
              <a:buNone/>
            </a:pPr>
            <a:r>
              <a:rPr b="1" i="0" lang="en-US" sz="25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 2: Product Clustering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990600" y="1733550"/>
            <a:ext cx="12287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Problem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0" name="Google Shape;240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52475" y="225742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0"/>
          <p:cNvSpPr/>
          <p:nvPr/>
        </p:nvSpPr>
        <p:spPr>
          <a:xfrm>
            <a:off x="1066800" y="2228850"/>
            <a:ext cx="22288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Too many products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1066800" y="2495550"/>
            <a:ext cx="2228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5A36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1C5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Difficult to analyze individually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6477000" y="1733550"/>
            <a:ext cx="1219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Solution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4" name="Google Shape;244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238875" y="2238375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0"/>
          <p:cNvSpPr/>
          <p:nvPr/>
        </p:nvSpPr>
        <p:spPr>
          <a:xfrm>
            <a:off x="6248400" y="22479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highlight>
                  <a:srgbClr val="143F26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6667500" y="2228850"/>
            <a:ext cx="4762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Embeddings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6667500" y="2495550"/>
            <a:ext cx="476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5A36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1C5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</a:t>
            </a:r>
            <a:r>
              <a:rPr lang="en-US" sz="1100">
                <a:solidFill>
                  <a:srgbClr val="1C5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reated text  embeddings </a:t>
            </a:r>
            <a:r>
              <a:rPr b="0" i="0" lang="en-US" sz="1100" u="none" cap="none" strike="noStrike">
                <a:solidFill>
                  <a:srgbClr val="1C5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using SentenceTransformers (all-MiniLM-L6-v2)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8" name="Google Shape;248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238875" y="3076575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0"/>
          <p:cNvSpPr/>
          <p:nvPr/>
        </p:nvSpPr>
        <p:spPr>
          <a:xfrm>
            <a:off x="6248400" y="30861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highlight>
                  <a:srgbClr val="143F26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6667500" y="3067050"/>
            <a:ext cx="26193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Clustering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6667500" y="3333750"/>
            <a:ext cx="2619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5A36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1C5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Appl</a:t>
            </a:r>
            <a:r>
              <a:rPr lang="en-US" sz="1100">
                <a:solidFill>
                  <a:srgbClr val="1C5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ied </a:t>
            </a:r>
            <a:r>
              <a:rPr b="0" i="0" lang="en-US" sz="1100" u="none" cap="none" strike="noStrike">
                <a:solidFill>
                  <a:srgbClr val="1C5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K-Means clustering algorithm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2" name="Google Shape;252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238875" y="3686175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0"/>
          <p:cNvSpPr/>
          <p:nvPr/>
        </p:nvSpPr>
        <p:spPr>
          <a:xfrm>
            <a:off x="6248400" y="36957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highlight>
                  <a:srgbClr val="143F26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6667500" y="3676650"/>
            <a:ext cx="2714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Grouping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6667500" y="3943350"/>
            <a:ext cx="2714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5A36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1C5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Created 5 semantic product groups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762000" y="440055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This Works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7" name="Google Shape;257;p1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333625" y="5010150"/>
            <a:ext cx="31432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0"/>
          <p:cNvSpPr/>
          <p:nvPr/>
        </p:nvSpPr>
        <p:spPr>
          <a:xfrm>
            <a:off x="923925" y="5381625"/>
            <a:ext cx="313045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Understands meaning, not just words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9" name="Google Shape;259;p1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915025" y="5010150"/>
            <a:ext cx="35242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0"/>
          <p:cNvSpPr/>
          <p:nvPr/>
        </p:nvSpPr>
        <p:spPr>
          <a:xfrm>
            <a:off x="4530626" y="5381625"/>
            <a:ext cx="313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Automatically finds similar categories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1" name="Google Shape;261;p1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544050" y="5010150"/>
            <a:ext cx="31432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0"/>
          <p:cNvSpPr/>
          <p:nvPr/>
        </p:nvSpPr>
        <p:spPr>
          <a:xfrm>
            <a:off x="8137475" y="5381625"/>
            <a:ext cx="313045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Enables easier analysis and better recommendations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762000" y="6381750"/>
            <a:ext cx="1466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Engineer Bootcamp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11344275" y="6381750"/>
            <a:ext cx="85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10" title="Screenshot 2026-05-08 at 10.50.11.png"/>
          <p:cNvPicPr preferRelativeResize="0"/>
          <p:nvPr/>
        </p:nvPicPr>
        <p:blipFill rotWithShape="1">
          <a:blip r:embed="rId16">
            <a:alphaModFix/>
          </a:blip>
          <a:srcRect b="0" l="6439" r="6430" t="0"/>
          <a:stretch/>
        </p:blipFill>
        <p:spPr>
          <a:xfrm>
            <a:off x="752475" y="2741175"/>
            <a:ext cx="3476626" cy="1964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1" name="Google Shape;27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2" name="Google Shape;27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3" name="Google Shape;27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475" y="1257300"/>
            <a:ext cx="268605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4" name="Google Shape;27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475" y="1695450"/>
            <a:ext cx="424815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5" name="Google Shape;27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475" y="2781300"/>
            <a:ext cx="424815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6" name="Google Shape;276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2475" y="3867150"/>
            <a:ext cx="424815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7" name="Google Shape;277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" y="4838700"/>
            <a:ext cx="447675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8" name="Google Shape;278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86350" y="1905237"/>
            <a:ext cx="6353175" cy="3855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9" name="Google Shape;279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91450" y="2733675"/>
            <a:ext cx="942975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0" name="Google Shape;280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295900" y="2036654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1" name="Google Shape;281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982325" y="2036654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2" name="Google Shape;282;p1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295900" y="5387714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3" name="Google Shape;283;p1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982325" y="5387714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4" name="Google Shape;284;p1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52475" y="6210300"/>
            <a:ext cx="1068705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1"/>
          <p:cNvSpPr/>
          <p:nvPr/>
        </p:nvSpPr>
        <p:spPr>
          <a:xfrm>
            <a:off x="762000" y="762000"/>
            <a:ext cx="10668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2500"/>
              <a:buFont typeface="Quattrocento Sans"/>
              <a:buNone/>
            </a:pPr>
            <a:r>
              <a:rPr b="1" i="0" lang="en-US" sz="25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Clustering Results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1114425" y="1838325"/>
            <a:ext cx="6572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7" name="Google Shape;287;p1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76300" y="1866900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1"/>
          <p:cNvSpPr/>
          <p:nvPr/>
        </p:nvSpPr>
        <p:spPr>
          <a:xfrm>
            <a:off x="885825" y="2133600"/>
            <a:ext cx="39738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1100"/>
              <a:buFont typeface="Quattrocento Sans"/>
              <a:buNone/>
            </a:pPr>
            <a:r>
              <a:rPr lang="en-US" sz="1100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Silhouette score is </a:t>
            </a:r>
            <a:r>
              <a:rPr b="1" lang="en-US" sz="1100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relatively low (~0.07)</a:t>
            </a:r>
            <a:r>
              <a:rPr lang="en-US" sz="1100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indicating weak cluster separation. This is expected for text data, where reviews often share similar vocabulary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1152525" y="2924175"/>
            <a:ext cx="16954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Evaluation Method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0" name="Google Shape;290;p1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76300" y="2952750"/>
            <a:ext cx="2095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1"/>
          <p:cNvSpPr/>
          <p:nvPr/>
        </p:nvSpPr>
        <p:spPr>
          <a:xfrm>
            <a:off x="885825" y="3219450"/>
            <a:ext cx="39738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Visual inspection of clusters to assess semantic coherence and meaningful groupings.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1152525" y="4010025"/>
            <a:ext cx="11715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It Works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3" name="Google Shape;293;p1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76300" y="4038600"/>
            <a:ext cx="2095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1"/>
          <p:cNvSpPr/>
          <p:nvPr/>
        </p:nvSpPr>
        <p:spPr>
          <a:xfrm>
            <a:off x="885825" y="4305300"/>
            <a:ext cx="39738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Semantic clusters are clearly visible in the visualization, showing meaningful product groupings.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1123950" y="5086350"/>
            <a:ext cx="1333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F3AB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DDF3A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Cluster Names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6" name="Google Shape;296;p1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66775" y="511492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1"/>
          <p:cNvSpPr/>
          <p:nvPr/>
        </p:nvSpPr>
        <p:spPr>
          <a:xfrm>
            <a:off x="876300" y="5381625"/>
            <a:ext cx="39929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Named manually according to the patterns observed in the cluster visualizations.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8" name="Google Shape;298;p1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962900" y="2962275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1"/>
          <p:cNvSpPr/>
          <p:nvPr/>
        </p:nvSpPr>
        <p:spPr>
          <a:xfrm>
            <a:off x="6644580" y="3886200"/>
            <a:ext cx="3238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5A36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1C5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Chart: Cluster Visualization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762000" y="6381750"/>
            <a:ext cx="1466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Engineer Bootcamp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11258550" y="6381750"/>
            <a:ext cx="1714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2" name="Google Shape;302;p11" title="Screenshot 2026-05-08 at 10.46.52.png"/>
          <p:cNvPicPr preferRelativeResize="0"/>
          <p:nvPr/>
        </p:nvPicPr>
        <p:blipFill rotWithShape="1">
          <a:blip r:embed="rId20">
            <a:alphaModFix/>
          </a:blip>
          <a:srcRect b="3288" l="0" r="0" t="3288"/>
          <a:stretch/>
        </p:blipFill>
        <p:spPr>
          <a:xfrm>
            <a:off x="5337600" y="2076450"/>
            <a:ext cx="5852448" cy="3513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8" name="Google Shape;30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9" name="Google Shape;30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0" name="Google Shape;31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475" y="1333500"/>
            <a:ext cx="268605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1" name="Google Shape;31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475" y="1828800"/>
            <a:ext cx="5133975" cy="2876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2" name="Google Shape;312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214312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3" name="Google Shape;313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34100" y="1638300"/>
            <a:ext cx="5495925" cy="3448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4" name="Google Shape;314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29400" y="21336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5" name="Google Shape;315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04850" y="4867275"/>
            <a:ext cx="10782300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6" name="Google Shape;316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90600" y="5172075"/>
            <a:ext cx="5524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7" name="Google Shape;317;p1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52475" y="6210300"/>
            <a:ext cx="106870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8" name="Google Shape;318;p1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371975" y="800100"/>
            <a:ext cx="781050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2"/>
          <p:cNvSpPr/>
          <p:nvPr/>
        </p:nvSpPr>
        <p:spPr>
          <a:xfrm>
            <a:off x="762000" y="762000"/>
            <a:ext cx="10668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2500"/>
              <a:buFont typeface="Quattrocento Sans"/>
              <a:buNone/>
            </a:pPr>
            <a:r>
              <a:rPr b="1" i="0" lang="en-US" sz="25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 3: AI-Generated Recommendations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0" name="Google Shape;320;p1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81100" y="2257425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2"/>
          <p:cNvSpPr/>
          <p:nvPr/>
        </p:nvSpPr>
        <p:spPr>
          <a:xfrm>
            <a:off x="1685925" y="2228850"/>
            <a:ext cx="147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Problem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2" name="Google Shape;322;p1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66800" y="288607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2"/>
          <p:cNvSpPr/>
          <p:nvPr/>
        </p:nvSpPr>
        <p:spPr>
          <a:xfrm>
            <a:off x="1362075" y="2838450"/>
            <a:ext cx="30670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Too many reviews to read manually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4" name="Google Shape;324;p1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66800" y="343852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2"/>
          <p:cNvSpPr/>
          <p:nvPr/>
        </p:nvSpPr>
        <p:spPr>
          <a:xfrm>
            <a:off x="1362075" y="3257550"/>
            <a:ext cx="42005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 automatic product recommendations per category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6" name="Google Shape;326;p1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66800" y="399097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2"/>
          <p:cNvSpPr/>
          <p:nvPr/>
        </p:nvSpPr>
        <p:spPr>
          <a:xfrm>
            <a:off x="1362075" y="3943350"/>
            <a:ext cx="31527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Users want quick, actionable insights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8" name="Google Shape;328;p1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772275" y="2247900"/>
            <a:ext cx="1905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2"/>
          <p:cNvSpPr/>
          <p:nvPr/>
        </p:nvSpPr>
        <p:spPr>
          <a:xfrm>
            <a:off x="7248525" y="2219325"/>
            <a:ext cx="1466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F3AB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DDF3A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Solution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0" name="Google Shape;330;p1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629400" y="2990850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2"/>
          <p:cNvSpPr/>
          <p:nvPr/>
        </p:nvSpPr>
        <p:spPr>
          <a:xfrm>
            <a:off x="6905625" y="2828925"/>
            <a:ext cx="42195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Prompt engineering: Asked the model to summarize customer opinions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2" name="Google Shape;332;p1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629400" y="3562350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2"/>
          <p:cNvSpPr/>
          <p:nvPr/>
        </p:nvSpPr>
        <p:spPr>
          <a:xfrm>
            <a:off x="6905625" y="3390900"/>
            <a:ext cx="4219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Identify best products based on sentiment and clustering 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4" name="Google Shape;334;p1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629400" y="4248150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2"/>
          <p:cNvSpPr/>
          <p:nvPr/>
        </p:nvSpPr>
        <p:spPr>
          <a:xfrm>
            <a:off x="6905588" y="4076700"/>
            <a:ext cx="4219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Generate short, readable recommendation articles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6" name="Google Shape;336;p1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171575" y="5324475"/>
            <a:ext cx="1905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2"/>
          <p:cNvSpPr/>
          <p:nvPr/>
        </p:nvSpPr>
        <p:spPr>
          <a:xfrm>
            <a:off x="1762125" y="5162550"/>
            <a:ext cx="74009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Output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1762125" y="5467350"/>
            <a:ext cx="74009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Concise articles with top products, common feedback, and buying recommendations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762000" y="6381750"/>
            <a:ext cx="1466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Engineer Bootcamp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11306175" y="6381750"/>
            <a:ext cx="1238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6" name="Google Shape;34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7" name="Google Shape;34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8" name="Google Shape;34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475" y="1333500"/>
            <a:ext cx="268605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9" name="Google Shape;34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475" y="1657350"/>
            <a:ext cx="5762625" cy="45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0" name="Google Shape;35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1820833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1" name="Google Shape;351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48375" y="1820833"/>
            <a:ext cx="2571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2" name="Google Shape;352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5839321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3" name="Google Shape;353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048375" y="5839321"/>
            <a:ext cx="2571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4" name="Google Shape;354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715125" y="1657350"/>
            <a:ext cx="47244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5" name="Google Shape;355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715125" y="2781300"/>
            <a:ext cx="4724400" cy="131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6" name="Google Shape;356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86550" y="4467225"/>
            <a:ext cx="238125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7" name="Google Shape;357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096375" y="4467225"/>
            <a:ext cx="237172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8" name="Google Shape;358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686550" y="5400675"/>
            <a:ext cx="238125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9" name="Google Shape;359;p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096375" y="5400675"/>
            <a:ext cx="237172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0" name="Google Shape;360;p1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52475" y="6410325"/>
            <a:ext cx="1068705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3"/>
          <p:cNvSpPr/>
          <p:nvPr/>
        </p:nvSpPr>
        <p:spPr>
          <a:xfrm>
            <a:off x="762000" y="762000"/>
            <a:ext cx="10668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2500"/>
              <a:buFont typeface="Quattrocento Sans"/>
              <a:buNone/>
            </a:pPr>
            <a:r>
              <a:rPr b="1" i="0" lang="en-US" sz="25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Generative AI Output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7103715" y="1800225"/>
            <a:ext cx="1905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Evaluation Approach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3" name="Google Shape;363;p1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838950" y="1828800"/>
            <a:ext cx="2000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3"/>
          <p:cNvSpPr/>
          <p:nvPr/>
        </p:nvSpPr>
        <p:spPr>
          <a:xfrm>
            <a:off x="6856065" y="2095500"/>
            <a:ext cx="445011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Assessed quality of generated recommendation articles based on relevance, readability, and actionability.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7122765" y="2924175"/>
            <a:ext cx="13811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Sample Output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6" name="Google Shape;366;p1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838950" y="2952750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3"/>
          <p:cNvSpPr/>
          <p:nvPr/>
        </p:nvSpPr>
        <p:spPr>
          <a:xfrm>
            <a:off x="6856065" y="3219450"/>
            <a:ext cx="445011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AI-generated recommendation articles combining sentiment analysis, clustering insights, and product recommendations.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6998940" y="4210050"/>
            <a:ext cx="11811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Features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9" name="Google Shape;369;p1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715125" y="4238625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0" name="Google Shape;370;p1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829425" y="4610100"/>
            <a:ext cx="20955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3"/>
          <p:cNvSpPr/>
          <p:nvPr/>
        </p:nvSpPr>
        <p:spPr>
          <a:xfrm>
            <a:off x="6846540" y="4848225"/>
            <a:ext cx="2063055" cy="36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E9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EEF2E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Concise summaries of customer opinions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2" name="Google Shape;372;p1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9239250" y="4610100"/>
            <a:ext cx="2085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3"/>
          <p:cNvSpPr/>
          <p:nvPr/>
        </p:nvSpPr>
        <p:spPr>
          <a:xfrm>
            <a:off x="9252496" y="4848225"/>
            <a:ext cx="2063204" cy="36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E9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EEF2E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Top</a:t>
            </a:r>
            <a:r>
              <a:rPr b="1" lang="en-US" sz="900">
                <a:solidFill>
                  <a:srgbClr val="EEF2E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/Weakest</a:t>
            </a:r>
            <a:r>
              <a:rPr b="1" i="0" lang="en-US" sz="900" u="none" cap="none" strike="noStrike">
                <a:solidFill>
                  <a:srgbClr val="EEF2E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products highlighted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4" name="Google Shape;374;p1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829425" y="5543550"/>
            <a:ext cx="20955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3"/>
          <p:cNvSpPr/>
          <p:nvPr/>
        </p:nvSpPr>
        <p:spPr>
          <a:xfrm>
            <a:off x="6846540" y="5786438"/>
            <a:ext cx="2063055" cy="36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E9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EEF2E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Common complaints identified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6" name="Google Shape;376;p13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9239250" y="5543550"/>
            <a:ext cx="2085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3"/>
          <p:cNvSpPr/>
          <p:nvPr/>
        </p:nvSpPr>
        <p:spPr>
          <a:xfrm>
            <a:off x="9252496" y="5786438"/>
            <a:ext cx="2063204" cy="36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E9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EEF2E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Clear buying recommendations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3"/>
          <p:cNvSpPr/>
          <p:nvPr/>
        </p:nvSpPr>
        <p:spPr>
          <a:xfrm>
            <a:off x="762000" y="6581775"/>
            <a:ext cx="1466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Engineer Bootcamp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11353800" y="6581775"/>
            <a:ext cx="76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0" name="Google Shape;380;p13" title="Screenshot 2026-05-08 at 11.05.22.png"/>
          <p:cNvPicPr preferRelativeResize="0"/>
          <p:nvPr/>
        </p:nvPicPr>
        <p:blipFill rotWithShape="1">
          <a:blip r:embed="rId24">
            <a:alphaModFix/>
          </a:blip>
          <a:srcRect b="0" l="0" r="0" t="-1358"/>
          <a:stretch/>
        </p:blipFill>
        <p:spPr>
          <a:xfrm>
            <a:off x="1009900" y="1828800"/>
            <a:ext cx="5255775" cy="422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86" name="Google Shape;38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7" name="Google Shape;38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8" name="Google Shape;38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475" y="1333500"/>
            <a:ext cx="268605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9" name="Google Shape;38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3900" y="1628775"/>
            <a:ext cx="107442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0" name="Google Shape;39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1819275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1" name="Google Shape;39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3900" y="2905125"/>
            <a:ext cx="5334000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2" name="Google Shape;39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3095625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3" name="Google Shape;39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34100" y="2905125"/>
            <a:ext cx="5334000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4" name="Google Shape;39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24600" y="3095625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5" name="Google Shape;395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3900" y="4429125"/>
            <a:ext cx="53340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6" name="Google Shape;396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4400" y="4619625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7" name="Google Shape;397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134100" y="4429125"/>
            <a:ext cx="53340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8" name="Google Shape;398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52475" y="6210300"/>
            <a:ext cx="106870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9" name="Google Shape;399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90600" y="1914525"/>
            <a:ext cx="2476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14"/>
          <p:cNvSpPr/>
          <p:nvPr/>
        </p:nvSpPr>
        <p:spPr>
          <a:xfrm>
            <a:off x="1495425" y="1828800"/>
            <a:ext cx="97726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Project Recap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4"/>
          <p:cNvSpPr/>
          <p:nvPr/>
        </p:nvSpPr>
        <p:spPr>
          <a:xfrm>
            <a:off x="1495425" y="2133600"/>
            <a:ext cx="97726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ReviewSense AI successfully combines three AI models (DistilBERT, MiniLM+KMeans, Generative AI) into a complete review analysis pipeline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2" name="Google Shape;402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09650" y="319087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14"/>
          <p:cNvSpPr/>
          <p:nvPr/>
        </p:nvSpPr>
        <p:spPr>
          <a:xfrm>
            <a:off x="1495425" y="3105150"/>
            <a:ext cx="4362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Final Version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1495425" y="3409950"/>
            <a:ext cx="43624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End-to-end system that transforms 50,000+ unstructured reviews into actionable product recommendations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5" name="Google Shape;405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438900" y="3190875"/>
            <a:ext cx="1714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4"/>
          <p:cNvSpPr/>
          <p:nvPr/>
        </p:nvSpPr>
        <p:spPr>
          <a:xfrm>
            <a:off x="6905625" y="3105150"/>
            <a:ext cx="4362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Takeaway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4"/>
          <p:cNvSpPr/>
          <p:nvPr/>
        </p:nvSpPr>
        <p:spPr>
          <a:xfrm>
            <a:off x="6905625" y="3409950"/>
            <a:ext cx="4362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Multi-model NLP pipelines can automate complex analysis tasks and deliver real value to users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8" name="Google Shape;408;p1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009650" y="471487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14"/>
          <p:cNvSpPr/>
          <p:nvPr/>
        </p:nvSpPr>
        <p:spPr>
          <a:xfrm>
            <a:off x="1495425" y="4629150"/>
            <a:ext cx="4362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Bonus Point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4"/>
          <p:cNvSpPr/>
          <p:nvPr/>
        </p:nvSpPr>
        <p:spPr>
          <a:xfrm>
            <a:off x="1495425" y="4933950"/>
            <a:ext cx="4362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system is scalable and can be adapted to any product category or review dataset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6334125" y="4714875"/>
            <a:ext cx="49339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From data chaos to clarity — that's the power of AI! ✨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4"/>
          <p:cNvSpPr/>
          <p:nvPr/>
        </p:nvSpPr>
        <p:spPr>
          <a:xfrm>
            <a:off x="762000" y="6381750"/>
            <a:ext cx="1466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Engineer Bootcamp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4"/>
          <p:cNvSpPr/>
          <p:nvPr/>
        </p:nvSpPr>
        <p:spPr>
          <a:xfrm>
            <a:off x="11315700" y="6381750"/>
            <a:ext cx="114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19" name="Google Shape;41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0" name="Google Shape;4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1" name="Google Shape;4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5087" y="789214"/>
            <a:ext cx="268605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2" name="Google Shape;42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1075" y="5429250"/>
            <a:ext cx="245745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3" name="Google Shape;42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71875" y="5429250"/>
            <a:ext cx="245745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4" name="Google Shape;42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62675" y="5429250"/>
            <a:ext cx="245745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5" name="Google Shape;42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53475" y="5429250"/>
            <a:ext cx="245745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6" name="Google Shape;42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2475" y="6210300"/>
            <a:ext cx="1068705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15"/>
          <p:cNvSpPr/>
          <p:nvPr/>
        </p:nvSpPr>
        <p:spPr>
          <a:xfrm>
            <a:off x="974612" y="217714"/>
            <a:ext cx="10668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2500"/>
              <a:buFont typeface="Quattrocento Sans"/>
              <a:buNone/>
            </a:pPr>
            <a:r>
              <a:rPr b="1" i="0" lang="en-US" sz="25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Live Demo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990600" y="5125811"/>
            <a:ext cx="10210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You'll See: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9" name="Google Shape;42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04900" y="5657850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5"/>
          <p:cNvSpPr/>
          <p:nvPr/>
        </p:nvSpPr>
        <p:spPr>
          <a:xfrm>
            <a:off x="1381125" y="5657850"/>
            <a:ext cx="15525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900"/>
              <a:buFont typeface="Quattrocento Sans"/>
              <a:buNone/>
            </a:pPr>
            <a:r>
              <a:rPr b="1" lang="en-US" sz="900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Top products per cluster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1" name="Google Shape;43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95700" y="565785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5"/>
          <p:cNvSpPr/>
          <p:nvPr/>
        </p:nvSpPr>
        <p:spPr>
          <a:xfrm>
            <a:off x="3990975" y="5562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900"/>
              <a:buFont typeface="Quattrocento Sans"/>
              <a:buNone/>
            </a:pPr>
            <a:r>
              <a:rPr b="1" lang="en-US" sz="900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Our recommendation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3" name="Google Shape;43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86500" y="5657850"/>
            <a:ext cx="2095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15"/>
          <p:cNvSpPr/>
          <p:nvPr/>
        </p:nvSpPr>
        <p:spPr>
          <a:xfrm>
            <a:off x="6600825" y="5562600"/>
            <a:ext cx="18859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900"/>
              <a:buFont typeface="Quattrocento Sans"/>
              <a:buNone/>
            </a:pPr>
            <a:r>
              <a:rPr b="1" lang="en-US" sz="900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most usual complaints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5" name="Google Shape;435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877300" y="5657850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15"/>
          <p:cNvSpPr/>
          <p:nvPr/>
        </p:nvSpPr>
        <p:spPr>
          <a:xfrm>
            <a:off x="9220200" y="5562600"/>
            <a:ext cx="18573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Final AI-generated recommendation article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5"/>
          <p:cNvSpPr/>
          <p:nvPr/>
        </p:nvSpPr>
        <p:spPr>
          <a:xfrm>
            <a:off x="762000" y="6381750"/>
            <a:ext cx="1466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Engineer Bootcamp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5"/>
          <p:cNvSpPr/>
          <p:nvPr/>
        </p:nvSpPr>
        <p:spPr>
          <a:xfrm>
            <a:off x="11315700" y="6381750"/>
            <a:ext cx="114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9" name="Google Shape;439;p15" title="Screen Recording 2026-05-08 at 12.36.48.mov">
            <a:hlinkClick r:id="rId11"/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81075" y="966475"/>
            <a:ext cx="10448926" cy="414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5" name="Google Shape;44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6" name="Google Shape;44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7" name="Google Shape;44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9675" y="3495675"/>
            <a:ext cx="3362325" cy="3362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8" name="Google Shape;44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81475" y="3362325"/>
            <a:ext cx="382905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16"/>
          <p:cNvSpPr/>
          <p:nvPr/>
        </p:nvSpPr>
        <p:spPr>
          <a:xfrm>
            <a:off x="3605213" y="2157413"/>
            <a:ext cx="49815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6800"/>
              <a:buFont typeface="Quattrocento Sans"/>
              <a:buNone/>
            </a:pPr>
            <a:r>
              <a:rPr b="1" i="0" lang="en-US" sz="68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 You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6"/>
          <p:cNvSpPr/>
          <p:nvPr/>
        </p:nvSpPr>
        <p:spPr>
          <a:xfrm>
            <a:off x="1876425" y="3786188"/>
            <a:ext cx="84391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2500"/>
              <a:buFont typeface="Quattrocento Sans"/>
              <a:buNone/>
            </a:pPr>
            <a:r>
              <a:rPr b="1" i="0" lang="en-US" sz="25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ReviewSense AI — AI Engineer Bootcamp Project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6"/>
          <p:cNvSpPr/>
          <p:nvPr/>
        </p:nvSpPr>
        <p:spPr>
          <a:xfrm>
            <a:off x="5472113" y="4395788"/>
            <a:ext cx="1247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1700"/>
              <a:buFont typeface="Quattrocento Sans"/>
              <a:buNone/>
            </a:pPr>
            <a:r>
              <a:rPr b="0" i="0" lang="en-US" sz="17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Questions?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