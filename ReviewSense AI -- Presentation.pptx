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Quattrocen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11" Type="http://schemas.openxmlformats.org/officeDocument/2006/relationships/slide" Target="slides/slide7.xml"/><Relationship Id="rId22" Type="http://schemas.openxmlformats.org/officeDocument/2006/relationships/font" Target="fonts/QuattrocentoSans-boldItalic.fntdata"/><Relationship Id="rId10" Type="http://schemas.openxmlformats.org/officeDocument/2006/relationships/slide" Target="slides/slide6.xml"/><Relationship Id="rId21" Type="http://schemas.openxmlformats.org/officeDocument/2006/relationships/font" Target="fonts/Quattrocento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QuattrocentoSans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34.png"/><Relationship Id="rId7" Type="http://schemas.openxmlformats.org/officeDocument/2006/relationships/image" Target="../media/image2.png"/><Relationship Id="rId8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11" Type="http://schemas.openxmlformats.org/officeDocument/2006/relationships/image" Target="../media/image27.png"/><Relationship Id="rId10" Type="http://schemas.openxmlformats.org/officeDocument/2006/relationships/image" Target="../media/image22.png"/><Relationship Id="rId12" Type="http://schemas.openxmlformats.org/officeDocument/2006/relationships/image" Target="../media/image52.png"/><Relationship Id="rId9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26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40.png"/><Relationship Id="rId13" Type="http://schemas.openxmlformats.org/officeDocument/2006/relationships/image" Target="../media/image33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42.png"/><Relationship Id="rId15" Type="http://schemas.openxmlformats.org/officeDocument/2006/relationships/image" Target="../media/image59.png"/><Relationship Id="rId14" Type="http://schemas.openxmlformats.org/officeDocument/2006/relationships/image" Target="../media/image35.png"/><Relationship Id="rId17" Type="http://schemas.openxmlformats.org/officeDocument/2006/relationships/image" Target="../media/image53.png"/><Relationship Id="rId16" Type="http://schemas.openxmlformats.org/officeDocument/2006/relationships/image" Target="../media/image37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18" Type="http://schemas.openxmlformats.org/officeDocument/2006/relationships/image" Target="../media/image44.png"/><Relationship Id="rId7" Type="http://schemas.openxmlformats.org/officeDocument/2006/relationships/image" Target="../media/image41.png"/><Relationship Id="rId8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7.png"/><Relationship Id="rId10" Type="http://schemas.openxmlformats.org/officeDocument/2006/relationships/image" Target="../media/image80.png"/><Relationship Id="rId13" Type="http://schemas.openxmlformats.org/officeDocument/2006/relationships/image" Target="../media/image54.png"/><Relationship Id="rId1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8.png"/><Relationship Id="rId9" Type="http://schemas.openxmlformats.org/officeDocument/2006/relationships/image" Target="../media/image55.png"/><Relationship Id="rId14" Type="http://schemas.openxmlformats.org/officeDocument/2006/relationships/image" Target="../media/image68.png"/><Relationship Id="rId5" Type="http://schemas.openxmlformats.org/officeDocument/2006/relationships/image" Target="../media/image7.png"/><Relationship Id="rId6" Type="http://schemas.openxmlformats.org/officeDocument/2006/relationships/image" Target="../media/image47.png"/><Relationship Id="rId7" Type="http://schemas.openxmlformats.org/officeDocument/2006/relationships/image" Target="../media/image51.png"/><Relationship Id="rId8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65.png"/><Relationship Id="rId13" Type="http://schemas.openxmlformats.org/officeDocument/2006/relationships/image" Target="../media/image79.png"/><Relationship Id="rId1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5" Type="http://schemas.openxmlformats.org/officeDocument/2006/relationships/image" Target="../media/image63.png"/><Relationship Id="rId6" Type="http://schemas.openxmlformats.org/officeDocument/2006/relationships/image" Target="../media/image61.png"/><Relationship Id="rId7" Type="http://schemas.openxmlformats.org/officeDocument/2006/relationships/image" Target="../media/image64.png"/><Relationship Id="rId8" Type="http://schemas.openxmlformats.org/officeDocument/2006/relationships/image" Target="../media/image69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77.png"/><Relationship Id="rId13" Type="http://schemas.openxmlformats.org/officeDocument/2006/relationships/image" Target="../media/image88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82.png"/><Relationship Id="rId15" Type="http://schemas.openxmlformats.org/officeDocument/2006/relationships/image" Target="../media/image92.png"/><Relationship Id="rId14" Type="http://schemas.openxmlformats.org/officeDocument/2006/relationships/image" Target="../media/image117.png"/><Relationship Id="rId16" Type="http://schemas.openxmlformats.org/officeDocument/2006/relationships/image" Target="../media/image98.png"/><Relationship Id="rId5" Type="http://schemas.openxmlformats.org/officeDocument/2006/relationships/image" Target="../media/image103.png"/><Relationship Id="rId6" Type="http://schemas.openxmlformats.org/officeDocument/2006/relationships/image" Target="../media/image75.png"/><Relationship Id="rId7" Type="http://schemas.openxmlformats.org/officeDocument/2006/relationships/image" Target="../media/image85.png"/><Relationship Id="rId8" Type="http://schemas.openxmlformats.org/officeDocument/2006/relationships/image" Target="../media/image7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1.png"/><Relationship Id="rId10" Type="http://schemas.openxmlformats.org/officeDocument/2006/relationships/image" Target="../media/image99.png"/><Relationship Id="rId13" Type="http://schemas.openxmlformats.org/officeDocument/2006/relationships/image" Target="../media/image109.png"/><Relationship Id="rId1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15" Type="http://schemas.openxmlformats.org/officeDocument/2006/relationships/image" Target="../media/image104.png"/><Relationship Id="rId14" Type="http://schemas.openxmlformats.org/officeDocument/2006/relationships/image" Target="../media/image105.png"/><Relationship Id="rId16" Type="http://schemas.openxmlformats.org/officeDocument/2006/relationships/image" Target="../media/image157.png"/><Relationship Id="rId5" Type="http://schemas.openxmlformats.org/officeDocument/2006/relationships/image" Target="../media/image107.png"/><Relationship Id="rId6" Type="http://schemas.openxmlformats.org/officeDocument/2006/relationships/image" Target="../media/image91.png"/><Relationship Id="rId7" Type="http://schemas.openxmlformats.org/officeDocument/2006/relationships/image" Target="../media/image93.png"/><Relationship Id="rId8" Type="http://schemas.openxmlformats.org/officeDocument/2006/relationships/image" Target="../media/image111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5.png"/><Relationship Id="rId11" Type="http://schemas.openxmlformats.org/officeDocument/2006/relationships/image" Target="../media/image119.png"/><Relationship Id="rId10" Type="http://schemas.openxmlformats.org/officeDocument/2006/relationships/image" Target="../media/image131.png"/><Relationship Id="rId13" Type="http://schemas.openxmlformats.org/officeDocument/2006/relationships/image" Target="../media/image139.png"/><Relationship Id="rId1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27.png"/><Relationship Id="rId15" Type="http://schemas.openxmlformats.org/officeDocument/2006/relationships/image" Target="../media/image118.png"/><Relationship Id="rId14" Type="http://schemas.openxmlformats.org/officeDocument/2006/relationships/image" Target="../media/image1.png"/><Relationship Id="rId17" Type="http://schemas.openxmlformats.org/officeDocument/2006/relationships/image" Target="../media/image134.png"/><Relationship Id="rId16" Type="http://schemas.openxmlformats.org/officeDocument/2006/relationships/image" Target="../media/image138.png"/><Relationship Id="rId5" Type="http://schemas.openxmlformats.org/officeDocument/2006/relationships/image" Target="../media/image108.png"/><Relationship Id="rId19" Type="http://schemas.openxmlformats.org/officeDocument/2006/relationships/image" Target="../media/image140.png"/><Relationship Id="rId6" Type="http://schemas.openxmlformats.org/officeDocument/2006/relationships/image" Target="../media/image113.png"/><Relationship Id="rId18" Type="http://schemas.openxmlformats.org/officeDocument/2006/relationships/image" Target="../media/image121.png"/><Relationship Id="rId7" Type="http://schemas.openxmlformats.org/officeDocument/2006/relationships/image" Target="../media/image114.png"/><Relationship Id="rId8" Type="http://schemas.openxmlformats.org/officeDocument/2006/relationships/image" Target="../media/image126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147.png"/><Relationship Id="rId13" Type="http://schemas.openxmlformats.org/officeDocument/2006/relationships/image" Target="../media/image65.png"/><Relationship Id="rId12" Type="http://schemas.openxmlformats.org/officeDocument/2006/relationships/image" Target="../media/image1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44.png"/><Relationship Id="rId15" Type="http://schemas.openxmlformats.org/officeDocument/2006/relationships/image" Target="../media/image143.png"/><Relationship Id="rId14" Type="http://schemas.openxmlformats.org/officeDocument/2006/relationships/image" Target="../media/image67.png"/><Relationship Id="rId17" Type="http://schemas.openxmlformats.org/officeDocument/2006/relationships/image" Target="../media/image146.png"/><Relationship Id="rId16" Type="http://schemas.openxmlformats.org/officeDocument/2006/relationships/image" Target="../media/image79.png"/><Relationship Id="rId5" Type="http://schemas.openxmlformats.org/officeDocument/2006/relationships/image" Target="../media/image145.png"/><Relationship Id="rId6" Type="http://schemas.openxmlformats.org/officeDocument/2006/relationships/image" Target="../media/image142.png"/><Relationship Id="rId7" Type="http://schemas.openxmlformats.org/officeDocument/2006/relationships/image" Target="../media/image141.png"/><Relationship Id="rId8" Type="http://schemas.openxmlformats.org/officeDocument/2006/relationships/image" Target="../media/image132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7.png"/><Relationship Id="rId11" Type="http://schemas.openxmlformats.org/officeDocument/2006/relationships/image" Target="../media/image162.png"/><Relationship Id="rId22" Type="http://schemas.openxmlformats.org/officeDocument/2006/relationships/image" Target="../media/image166.png"/><Relationship Id="rId10" Type="http://schemas.openxmlformats.org/officeDocument/2006/relationships/image" Target="../media/image153.png"/><Relationship Id="rId21" Type="http://schemas.openxmlformats.org/officeDocument/2006/relationships/image" Target="../media/image170.png"/><Relationship Id="rId13" Type="http://schemas.openxmlformats.org/officeDocument/2006/relationships/image" Target="../media/image163.png"/><Relationship Id="rId24" Type="http://schemas.openxmlformats.org/officeDocument/2006/relationships/image" Target="../media/image199.png"/><Relationship Id="rId12" Type="http://schemas.openxmlformats.org/officeDocument/2006/relationships/image" Target="../media/image152.png"/><Relationship Id="rId23" Type="http://schemas.openxmlformats.org/officeDocument/2006/relationships/image" Target="../media/image17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67.png"/><Relationship Id="rId15" Type="http://schemas.openxmlformats.org/officeDocument/2006/relationships/image" Target="../media/image156.png"/><Relationship Id="rId14" Type="http://schemas.openxmlformats.org/officeDocument/2006/relationships/image" Target="../media/image155.png"/><Relationship Id="rId17" Type="http://schemas.openxmlformats.org/officeDocument/2006/relationships/image" Target="../media/image169.png"/><Relationship Id="rId16" Type="http://schemas.openxmlformats.org/officeDocument/2006/relationships/image" Target="../media/image1.png"/><Relationship Id="rId5" Type="http://schemas.openxmlformats.org/officeDocument/2006/relationships/image" Target="../media/image161.png"/><Relationship Id="rId19" Type="http://schemas.openxmlformats.org/officeDocument/2006/relationships/image" Target="../media/image177.png"/><Relationship Id="rId6" Type="http://schemas.openxmlformats.org/officeDocument/2006/relationships/image" Target="../media/image154.png"/><Relationship Id="rId18" Type="http://schemas.openxmlformats.org/officeDocument/2006/relationships/image" Target="../media/image164.png"/><Relationship Id="rId7" Type="http://schemas.openxmlformats.org/officeDocument/2006/relationships/image" Target="../media/image150.png"/><Relationship Id="rId8" Type="http://schemas.openxmlformats.org/officeDocument/2006/relationships/image" Target="../media/image151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5.png"/><Relationship Id="rId10" Type="http://schemas.openxmlformats.org/officeDocument/2006/relationships/image" Target="../media/image190.png"/><Relationship Id="rId13" Type="http://schemas.openxmlformats.org/officeDocument/2006/relationships/image" Target="../media/image192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71.png"/><Relationship Id="rId15" Type="http://schemas.openxmlformats.org/officeDocument/2006/relationships/image" Target="../media/image194.png"/><Relationship Id="rId14" Type="http://schemas.openxmlformats.org/officeDocument/2006/relationships/image" Target="../media/image174.png"/><Relationship Id="rId16" Type="http://schemas.openxmlformats.org/officeDocument/2006/relationships/image" Target="../media/image193.png"/><Relationship Id="rId5" Type="http://schemas.openxmlformats.org/officeDocument/2006/relationships/image" Target="../media/image168.png"/><Relationship Id="rId6" Type="http://schemas.openxmlformats.org/officeDocument/2006/relationships/image" Target="../media/image179.png"/><Relationship Id="rId7" Type="http://schemas.openxmlformats.org/officeDocument/2006/relationships/image" Target="../media/image186.png"/><Relationship Id="rId8" Type="http://schemas.openxmlformats.org/officeDocument/2006/relationships/image" Target="../media/image176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hyperlink" Target="http://drive.google.com/file/d/1fvlnhBJxPdzOSsFlLS80YiyEMgRegCOw/view" TargetMode="External"/><Relationship Id="rId10" Type="http://schemas.openxmlformats.org/officeDocument/2006/relationships/image" Target="../media/image198.png"/><Relationship Id="rId12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34.png"/><Relationship Id="rId5" Type="http://schemas.openxmlformats.org/officeDocument/2006/relationships/image" Target="../media/image203.png"/><Relationship Id="rId6" Type="http://schemas.openxmlformats.org/officeDocument/2006/relationships/image" Target="../media/image1.png"/><Relationship Id="rId7" Type="http://schemas.openxmlformats.org/officeDocument/2006/relationships/image" Target="../media/image201.png"/><Relationship Id="rId8" Type="http://schemas.openxmlformats.org/officeDocument/2006/relationships/image" Target="../media/image20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04.png"/><Relationship Id="rId5" Type="http://schemas.openxmlformats.org/officeDocument/2006/relationships/image" Target="../media/image48.png"/><Relationship Id="rId6" Type="http://schemas.openxmlformats.org/officeDocument/2006/relationships/image" Target="../media/image20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0725" y="85725"/>
            <a:ext cx="40195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8725" y="3924300"/>
            <a:ext cx="47434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7475" y="1800225"/>
            <a:ext cx="5705475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1238250" y="2281238"/>
            <a:ext cx="5486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5100"/>
              <a:buFont typeface="Quattrocento Sans"/>
              <a:buNone/>
            </a:pPr>
            <a:r>
              <a:rPr b="1" i="0" lang="en-US" sz="5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ReviewSense AI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238250" y="3290888"/>
            <a:ext cx="548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62A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164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 Project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" name="Google Shape;2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28725" y="4162425"/>
            <a:ext cx="47434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1390650" y="4252913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highlight>
                  <a:srgbClr val="DDF3A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From 50,000+ Reviews to 1 Smart Recommendation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3" title="no backgrou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64875" y="661500"/>
            <a:ext cx="5734950" cy="60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9675" y="0"/>
            <a:ext cx="3362325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362075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762000" y="7620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3400"/>
              <a:buFont typeface="Quattrocento Sans"/>
              <a:buNone/>
            </a:pPr>
            <a:r>
              <a:rPr b="1" i="0" lang="en-US" sz="3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Contents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438400" y="2919413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Pitch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438400" y="3438525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 &amp; 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438400" y="3957638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Methods &amp;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438400" y="4476750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DistilBERT Classifier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086600" y="2919413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Clusterer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086600" y="3438525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Generative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086600" y="3957638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 &amp; Takeaway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828800" y="288369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828800" y="340280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828800" y="392191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828800" y="4441031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77000" y="288369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lang="en-US" sz="17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477000" y="340280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lang="en-US" sz="17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477000" y="392191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lang="en-US" sz="17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477000" y="4441031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lang="en-US" sz="17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086600" y="4476750"/>
            <a:ext cx="32766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2533650"/>
            <a:ext cx="31242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33900" y="2533650"/>
            <a:ext cx="31242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6725" y="2533650"/>
            <a:ext cx="31242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04975" y="4572000"/>
            <a:ext cx="878205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" name="Google Shape;6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62484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ReviewSense AI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014663" y="1514475"/>
            <a:ext cx="6162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Goal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014663" y="1933575"/>
            <a:ext cx="6162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62A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64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</a:t>
            </a:r>
            <a:r>
              <a:rPr b="1" i="0" lang="en-US" sz="1700" u="none" cap="none" strike="noStrike">
                <a:solidFill>
                  <a:srgbClr val="DDF3AB"/>
                </a:solidFill>
                <a:highlight>
                  <a:srgbClr val="143F26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50,000+ Reviews</a:t>
            </a:r>
            <a:r>
              <a:rPr b="1" i="0" lang="en-US" sz="1700" u="none" cap="none" strike="noStrike">
                <a:solidFill>
                  <a:srgbClr val="164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1 Smart Recommendation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52675" y="2771775"/>
            <a:ext cx="3714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582638" y="3276600"/>
            <a:ext cx="1914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Sentiment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149376" y="3619500"/>
            <a:ext cx="781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(DistilBERT)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86450" y="2771775"/>
            <a:ext cx="4191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5162401" y="3276600"/>
            <a:ext cx="1866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 Clustering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62439" y="3619500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(MiniLM + KMeans)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420225" y="2771775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8340626" y="3276600"/>
            <a:ext cx="26226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AI-Generated Buying Recommendations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9113788" y="3886200"/>
            <a:ext cx="1076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(Generative AI)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133600" y="4848225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F3AB"/>
              </a:buClr>
              <a:buSzPts val="1700"/>
              <a:buFont typeface="Quattrocento Sans"/>
              <a:buNone/>
            </a:pPr>
            <a:r>
              <a:rPr b="1" i="1" lang="en-US" sz="1700" u="none" cap="none" strike="noStrike">
                <a:solidFill>
                  <a:srgbClr val="DDF3A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"Stop reading thousands of reviews. Let AI summarize them for you."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62000" y="64198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1268075" y="641985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0175" y="2114550"/>
            <a:ext cx="38290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86125" y="3314700"/>
            <a:ext cx="571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3248025" y="34480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0175" y="3505200"/>
            <a:ext cx="38290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86125" y="4705350"/>
            <a:ext cx="571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3248025" y="48387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0175" y="4895850"/>
            <a:ext cx="38290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15075" y="3114675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15075" y="3857625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15075" y="4610100"/>
            <a:ext cx="4000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2475" y="62484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762000" y="762000"/>
            <a:ext cx="10668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Overview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62000" y="1666875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Pipeline Architecture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90875" y="223837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1533525" y="2552700"/>
            <a:ext cx="3562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DistilBERT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533525" y="2819400"/>
            <a:ext cx="3562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Classifies customer sentiment (Positive, Neutral, Negative)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171825" y="362902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1533525" y="3943350"/>
            <a:ext cx="3562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MiniLM + KMeans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533525" y="4210050"/>
            <a:ext cx="3562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Embeddings and clustering group similar reviews into broader product categories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6" title="chat-gpt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190875" y="5019675"/>
            <a:ext cx="247651" cy="24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1533525" y="5334000"/>
            <a:ext cx="3562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lang="en-US" sz="12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GPT 4.1 mini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533525" y="5600700"/>
            <a:ext cx="3562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Generates actionable product recommendations and insights based on sentiment and clustered review data</a:t>
            </a:r>
            <a:endParaRPr b="1" sz="900">
              <a:solidFill>
                <a:srgbClr val="194E2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t/>
            </a:r>
            <a:endParaRPr b="1" sz="900">
              <a:solidFill>
                <a:srgbClr val="194E2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324600" y="2631281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Methodology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419850" y="3228975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6858000" y="3088481"/>
            <a:ext cx="4572000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Combines multiple AI models into one end-to-end review analysis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410325" y="3971925"/>
            <a:ext cx="2095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6858000" y="3836194"/>
            <a:ext cx="4572000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Structured insights are used by Generative AI models to create short recommendation articles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48425" y="4724400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6858000" y="4583906"/>
            <a:ext cx="4572000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Output:</a:t>
            </a:r>
            <a:r>
              <a:rPr b="0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Top products, common complaints, and smart buying 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62000" y="64198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1249025" y="6419850"/>
            <a:ext cx="180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9675" y="3495675"/>
            <a:ext cx="3362325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206058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600325"/>
            <a:ext cx="952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3590925"/>
            <a:ext cx="106870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6572250"/>
            <a:ext cx="106870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METHODS &amp; DATASET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2475" y="1619250"/>
            <a:ext cx="11811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876300" y="1666875"/>
            <a:ext cx="933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highlight>
                  <a:srgbClr val="DDF3A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62000" y="2047875"/>
            <a:ext cx="51816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an end-to-end NLP pipeline combining preprocessing, sentiment classification, semantic clustering, and Generative AI summarization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2475" y="2581275"/>
            <a:ext cx="10382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876300" y="2633663"/>
            <a:ext cx="790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highlight>
                  <a:srgbClr val="DDF3A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62000" y="3014663"/>
            <a:ext cx="51816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Amazon Reviews dataset containing product reviews, ratings, product names, and customer feedback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38875" y="1619250"/>
            <a:ext cx="16668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6362700" y="1666875"/>
            <a:ext cx="1419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highlight>
                  <a:srgbClr val="DDF3AB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Preprocessing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38900" y="2047875"/>
            <a:ext cx="49911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Cleaned review text by removing special characters, line breaks, punctuation, </a:t>
            </a:r>
            <a:r>
              <a:rPr lang="en-US" sz="900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sentences shorter than 10 letters and </a:t>
            </a: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inconsistent formatting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438900" y="2557463"/>
            <a:ext cx="2257425" cy="216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Standardized text for model 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7050" y="3785250"/>
            <a:ext cx="4724400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4910138" y="6124426"/>
            <a:ext cx="2371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Special Characters Before Preprocessing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62000" y="6753076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1353800" y="6753076"/>
            <a:ext cx="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7" title="Screenshot 2026-05-07 at 12.52.0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80875" y="3785250"/>
            <a:ext cx="472440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2124075"/>
            <a:ext cx="5133975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24384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34100" y="1933575"/>
            <a:ext cx="5495925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4288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1: DistilBERT Sentiment Classifier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81100" y="25527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1685925" y="2524125"/>
            <a:ext cx="147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6800" y="330041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1362075" y="3133725"/>
            <a:ext cx="42005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reviews are highly unstructured and difficult to analyze manually at 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6800" y="401580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1362075" y="3857625"/>
            <a:ext cx="42005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Companies need to automatically understand whether feedback is positive, neutral, or negative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6800" y="474821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1362075" y="4581525"/>
            <a:ext cx="42005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Manual analysis is time-consuming and inconsistent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43700" y="254317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7248525" y="2514600"/>
            <a:ext cx="146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F3A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DDF3A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Solution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29400" y="3307896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6905625" y="3124200"/>
            <a:ext cx="42195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Used DistilBERT, a transformer-based NLP model for sentiment 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29400" y="3997779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6905625" y="3848100"/>
            <a:ext cx="42195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DistilBERT? Lightweight, fast, and highly effective for text classification tasks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29400" y="490877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6905625" y="4572000"/>
            <a:ext cx="4219575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Reviews were cleaned and labeled using review ratings, then used to train and evaluate the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1258550" y="638175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2514600"/>
            <a:ext cx="27717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7600" y="2514600"/>
            <a:ext cx="27717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3562350"/>
            <a:ext cx="27717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7600" y="3562350"/>
            <a:ext cx="27717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91325" y="1952625"/>
            <a:ext cx="4648200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21240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096625" y="21240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62775" y="54387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096625" y="54387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DistilBERT Performance Results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762000" y="1666875"/>
            <a:ext cx="5657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F3AB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DDF3AB"/>
                </a:solidFill>
                <a:highlight>
                  <a:srgbClr val="143F26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Results</a:t>
            </a: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DistilBERT achieved strong classification performance with approximately 95% accuracy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730573" y="2686050"/>
            <a:ext cx="815429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743075" y="2914650"/>
            <a:ext cx="790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0.953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656237" y="2686050"/>
            <a:ext cx="77450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633913" y="2914650"/>
            <a:ext cx="819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0.946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875383" y="3733800"/>
            <a:ext cx="5258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743075" y="3962400"/>
            <a:ext cx="790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0.953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688086" y="3733800"/>
            <a:ext cx="71065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F1-score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633913" y="3962400"/>
            <a:ext cx="819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100"/>
              <a:buFont typeface="Quattrocento Sans"/>
              <a:buNone/>
            </a:pPr>
            <a:r>
              <a:rPr b="1" i="0" lang="en-US" sz="2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0.948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971550" y="4648200"/>
            <a:ext cx="1171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2475" y="4676775"/>
            <a:ext cx="1524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/>
          <p:nvPr/>
        </p:nvSpPr>
        <p:spPr>
          <a:xfrm>
            <a:off x="762000" y="4905375"/>
            <a:ext cx="56578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DistilBERT understands word context and sentence meaning, helping detect sentiment more accurately even in complex reviews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971550" y="5562600"/>
            <a:ext cx="1695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2475" y="5591175"/>
            <a:ext cx="1524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/>
          <p:nvPr/>
        </p:nvSpPr>
        <p:spPr>
          <a:xfrm>
            <a:off x="762000" y="5819775"/>
            <a:ext cx="5657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Evaluated using Accuracy, Precision, Recall, F1-score, and confusion matrix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782050" y="3133725"/>
            <a:ext cx="6667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7458075" y="3867150"/>
            <a:ext cx="3314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Chart: Confusion matrix visualization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7048500" y="4210050"/>
            <a:ext cx="4133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804C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8804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(User will upload chart showing classification performance across sentiment categories)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1258550" y="638175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9" title="Screenshot 2026-05-07 at 17.13.04.png"/>
          <p:cNvPicPr preferRelativeResize="0"/>
          <p:nvPr/>
        </p:nvPicPr>
        <p:blipFill rotWithShape="1">
          <a:blip r:embed="rId16">
            <a:alphaModFix/>
          </a:blip>
          <a:srcRect b="0" l="7280" r="7280" t="0"/>
          <a:stretch/>
        </p:blipFill>
        <p:spPr>
          <a:xfrm>
            <a:off x="7030000" y="2172825"/>
            <a:ext cx="4170850" cy="338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9" name="Google Shape;2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647825"/>
            <a:ext cx="1704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647825"/>
            <a:ext cx="16954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4848225"/>
            <a:ext cx="34766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5" name="Google Shape;23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2925" y="4848225"/>
            <a:ext cx="34861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62900" y="4848225"/>
            <a:ext cx="34766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2: Product Clustering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990600" y="1733550"/>
            <a:ext cx="1228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2475" y="225742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/>
          <p:nvPr/>
        </p:nvSpPr>
        <p:spPr>
          <a:xfrm>
            <a:off x="1066800" y="2228850"/>
            <a:ext cx="2228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 many products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1066800" y="2495550"/>
            <a:ext cx="2228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Difficult to analyze individually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477000" y="173355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38875" y="223837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/>
          <p:nvPr/>
        </p:nvSpPr>
        <p:spPr>
          <a:xfrm>
            <a:off x="6248400" y="22479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highlight>
                  <a:srgbClr val="143F26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667500" y="22288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667500" y="2495550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</a:t>
            </a:r>
            <a:r>
              <a:rPr lang="en-US" sz="1100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reated text  embeddings </a:t>
            </a:r>
            <a:r>
              <a:rPr b="0" i="0" lang="en-US" sz="11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SentenceTransformers (all-MiniLM-L6-v2)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38875" y="307657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0"/>
          <p:cNvSpPr/>
          <p:nvPr/>
        </p:nvSpPr>
        <p:spPr>
          <a:xfrm>
            <a:off x="6248400" y="30861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highlight>
                  <a:srgbClr val="143F26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6667500" y="3067050"/>
            <a:ext cx="2619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667500" y="3333750"/>
            <a:ext cx="2619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</a:t>
            </a:r>
            <a:r>
              <a:rPr lang="en-US" sz="1100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ied </a:t>
            </a:r>
            <a:r>
              <a:rPr b="0" i="0" lang="en-US" sz="11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K-Means clustering algorithm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38875" y="368617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"/>
          <p:cNvSpPr/>
          <p:nvPr/>
        </p:nvSpPr>
        <p:spPr>
          <a:xfrm>
            <a:off x="6248400" y="36957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highlight>
                  <a:srgbClr val="143F26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667500" y="3676650"/>
            <a:ext cx="2714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667500" y="3943350"/>
            <a:ext cx="2714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Created 5 semantic product groups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762000" y="440055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This Works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33625" y="5010150"/>
            <a:ext cx="3143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0"/>
          <p:cNvSpPr/>
          <p:nvPr/>
        </p:nvSpPr>
        <p:spPr>
          <a:xfrm>
            <a:off x="923925" y="5381625"/>
            <a:ext cx="31304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Understands meaning, not just 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915025" y="5010150"/>
            <a:ext cx="3524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"/>
          <p:cNvSpPr/>
          <p:nvPr/>
        </p:nvSpPr>
        <p:spPr>
          <a:xfrm>
            <a:off x="4530626" y="5381625"/>
            <a:ext cx="313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Automatically finds similar categories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544050" y="5010150"/>
            <a:ext cx="3143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0"/>
          <p:cNvSpPr/>
          <p:nvPr/>
        </p:nvSpPr>
        <p:spPr>
          <a:xfrm>
            <a:off x="8137475" y="5381625"/>
            <a:ext cx="313045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Enables easier analysis and better 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1344275" y="6381750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0" title="Screenshot 2026-05-08 at 10.50.11.png"/>
          <p:cNvPicPr preferRelativeResize="0"/>
          <p:nvPr/>
        </p:nvPicPr>
        <p:blipFill rotWithShape="1">
          <a:blip r:embed="rId16">
            <a:alphaModFix/>
          </a:blip>
          <a:srcRect b="0" l="6439" r="6430" t="0"/>
          <a:stretch/>
        </p:blipFill>
        <p:spPr>
          <a:xfrm>
            <a:off x="752475" y="2741175"/>
            <a:ext cx="3476626" cy="1964174"/>
          </a:xfrm>
          <a:prstGeom prst="rect">
            <a:avLst/>
          </a:prstGeom>
          <a:noFill/>
          <a:ln>
            <a:noFill/>
          </a:ln>
          <a:effectLst>
            <a:outerShdw rotWithShape="0" algn="bl" dir="636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1" name="Google Shape;2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2573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4" name="Google Shape;27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695450"/>
            <a:ext cx="42481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2781300"/>
            <a:ext cx="42481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6" name="Google Shape;27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3867150"/>
            <a:ext cx="42481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4838700"/>
            <a:ext cx="447675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" name="Google Shape;27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86350" y="1905237"/>
            <a:ext cx="6353175" cy="385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91450" y="2733675"/>
            <a:ext cx="942975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0" name="Google Shape;280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95900" y="2036654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1" name="Google Shape;28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982325" y="203665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2" name="Google Shape;282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95900" y="5387714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982325" y="538771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4" name="Google Shape;284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1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Clustering Results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1114425" y="1838325"/>
            <a:ext cx="6572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7" name="Google Shape;287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76300" y="186690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1"/>
          <p:cNvSpPr/>
          <p:nvPr/>
        </p:nvSpPr>
        <p:spPr>
          <a:xfrm>
            <a:off x="885825" y="2133600"/>
            <a:ext cx="39738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lang="en-US" sz="1100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Silhouette score is </a:t>
            </a:r>
            <a:r>
              <a:rPr b="1" lang="en-US" sz="1100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relatively low (~0.07)</a:t>
            </a:r>
            <a:r>
              <a:rPr lang="en-US" sz="1100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indicating weak cluster separation. This is expected for text data, where reviews often share similar vocabulary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152525" y="2924175"/>
            <a:ext cx="1695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0" name="Google Shape;290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76300" y="2952750"/>
            <a:ext cx="2095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/>
          <p:nvPr/>
        </p:nvSpPr>
        <p:spPr>
          <a:xfrm>
            <a:off x="885825" y="3219450"/>
            <a:ext cx="39738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 inspection of clusters to assess semantic coherence and meaningful groupings.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152525" y="4010025"/>
            <a:ext cx="1171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3" name="Google Shape;293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76300" y="4038600"/>
            <a:ext cx="2095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1"/>
          <p:cNvSpPr/>
          <p:nvPr/>
        </p:nvSpPr>
        <p:spPr>
          <a:xfrm>
            <a:off x="885825" y="4305300"/>
            <a:ext cx="39738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Semantic clusters are clearly visible in the visualization, showing meaningful product groupings.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1123950" y="5086350"/>
            <a:ext cx="1333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F3AB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DDF3A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 Names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66775" y="51149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/>
          <p:nvPr/>
        </p:nvSpPr>
        <p:spPr>
          <a:xfrm>
            <a:off x="876300" y="5381625"/>
            <a:ext cx="39929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Named manually according to the patterns observed in the cluster visualizations.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962900" y="296227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1"/>
          <p:cNvSpPr/>
          <p:nvPr/>
        </p:nvSpPr>
        <p:spPr>
          <a:xfrm>
            <a:off x="6644580" y="3886200"/>
            <a:ext cx="323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5A3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C5A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Chart: Cluster Visualization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11258550" y="638175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11" title="Screenshot 2026-05-08 at 10.46.52.png"/>
          <p:cNvPicPr preferRelativeResize="0"/>
          <p:nvPr/>
        </p:nvPicPr>
        <p:blipFill rotWithShape="1">
          <a:blip r:embed="rId20">
            <a:alphaModFix/>
          </a:blip>
          <a:srcRect b="3288" l="0" r="0" t="3288"/>
          <a:stretch/>
        </p:blipFill>
        <p:spPr>
          <a:xfrm>
            <a:off x="5337600" y="2076450"/>
            <a:ext cx="5852448" cy="351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8" name="Google Shape;3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9" name="Google Shape;3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0" name="Google Shape;3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828800"/>
            <a:ext cx="5133975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21431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3" name="Google Shape;31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34100" y="1638300"/>
            <a:ext cx="5495925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1336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4850" y="4867275"/>
            <a:ext cx="1078230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6" name="Google Shape;316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0600" y="5172075"/>
            <a:ext cx="5524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7" name="Google Shape;317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8" name="Google Shape;318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71975" y="800100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2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3: AI-Generated Recommendations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0" name="Google Shape;320;p1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81100" y="225742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2"/>
          <p:cNvSpPr/>
          <p:nvPr/>
        </p:nvSpPr>
        <p:spPr>
          <a:xfrm>
            <a:off x="1685925" y="2228850"/>
            <a:ext cx="147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2" name="Google Shape;322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28860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2"/>
          <p:cNvSpPr/>
          <p:nvPr/>
        </p:nvSpPr>
        <p:spPr>
          <a:xfrm>
            <a:off x="1362075" y="2838450"/>
            <a:ext cx="3067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 many reviews to read manually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4" name="Google Shape;324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34385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2"/>
          <p:cNvSpPr/>
          <p:nvPr/>
        </p:nvSpPr>
        <p:spPr>
          <a:xfrm>
            <a:off x="1362075" y="3257550"/>
            <a:ext cx="42005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 automatic product recommendations per 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39909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2"/>
          <p:cNvSpPr/>
          <p:nvPr/>
        </p:nvSpPr>
        <p:spPr>
          <a:xfrm>
            <a:off x="1362075" y="3943350"/>
            <a:ext cx="3152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 want quick, actionable insights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1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772275" y="2247900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2"/>
          <p:cNvSpPr/>
          <p:nvPr/>
        </p:nvSpPr>
        <p:spPr>
          <a:xfrm>
            <a:off x="7248525" y="2219325"/>
            <a:ext cx="146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F3AB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DDF3A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Solution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1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29400" y="299085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2"/>
          <p:cNvSpPr/>
          <p:nvPr/>
        </p:nvSpPr>
        <p:spPr>
          <a:xfrm>
            <a:off x="6905625" y="2828925"/>
            <a:ext cx="42195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 engineering: Asked the model to summarize customer opinions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29400" y="356235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2"/>
          <p:cNvSpPr/>
          <p:nvPr/>
        </p:nvSpPr>
        <p:spPr>
          <a:xfrm>
            <a:off x="6905625" y="3390900"/>
            <a:ext cx="421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Identify best products based on sentiment and clustering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1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29400" y="424815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2"/>
          <p:cNvSpPr/>
          <p:nvPr/>
        </p:nvSpPr>
        <p:spPr>
          <a:xfrm>
            <a:off x="6905588" y="4076700"/>
            <a:ext cx="421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Generate short, readable recommendation articles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6" name="Google Shape;336;p1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71575" y="5324475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2"/>
          <p:cNvSpPr/>
          <p:nvPr/>
        </p:nvSpPr>
        <p:spPr>
          <a:xfrm>
            <a:off x="1762125" y="5162550"/>
            <a:ext cx="7400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762125" y="5467350"/>
            <a:ext cx="7400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Concise articles with top products, common feedback, and buying 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11306175" y="6381750"/>
            <a:ext cx="123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6" name="Google Shape;3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8" name="Google Shape;34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9" name="Google Shape;34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657350"/>
            <a:ext cx="5762625" cy="45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0" name="Google Shape;35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820833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1" name="Google Shape;35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48375" y="1820833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2" name="Google Shape;35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5839321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3" name="Google Shape;35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48375" y="5839321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4" name="Google Shape;35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15125" y="1657350"/>
            <a:ext cx="47244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5" name="Google Shape;355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15125" y="2781300"/>
            <a:ext cx="47244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6" name="Google Shape;356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86550" y="4467225"/>
            <a:ext cx="23812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7" name="Google Shape;357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96375" y="4467225"/>
            <a:ext cx="23717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8" name="Google Shape;358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86550" y="5400675"/>
            <a:ext cx="23812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9" name="Google Shape;359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096375" y="5400675"/>
            <a:ext cx="23717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0" name="Google Shape;360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52475" y="6410325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3"/>
          <p:cNvSpPr/>
          <p:nvPr/>
        </p:nvSpPr>
        <p:spPr>
          <a:xfrm>
            <a:off x="762000" y="762000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Generative AI Output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7103715" y="1800225"/>
            <a:ext cx="190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Approach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3" name="Google Shape;363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838950" y="1828800"/>
            <a:ext cx="2000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3"/>
          <p:cNvSpPr/>
          <p:nvPr/>
        </p:nvSpPr>
        <p:spPr>
          <a:xfrm>
            <a:off x="6856065" y="2095500"/>
            <a:ext cx="445011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Assessed quality of generated recommendation articles based on relevance, readability, and actionability.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7122765" y="2924175"/>
            <a:ext cx="13811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Sample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6" name="Google Shape;366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838950" y="295275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3"/>
          <p:cNvSpPr/>
          <p:nvPr/>
        </p:nvSpPr>
        <p:spPr>
          <a:xfrm>
            <a:off x="6856065" y="3219450"/>
            <a:ext cx="445011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AI-generated recommendation articles combining sentiment analysis, clustering insights, and product recommendations.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6998940" y="4210050"/>
            <a:ext cx="1181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9" name="Google Shape;369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715125" y="42386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0" name="Google Shape;370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829425" y="4610100"/>
            <a:ext cx="20955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3"/>
          <p:cNvSpPr/>
          <p:nvPr/>
        </p:nvSpPr>
        <p:spPr>
          <a:xfrm>
            <a:off x="6846540" y="4848225"/>
            <a:ext cx="2063055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E9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EF2E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Concise summaries of customer opinions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2" name="Google Shape;372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239250" y="4610100"/>
            <a:ext cx="2085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3"/>
          <p:cNvSpPr/>
          <p:nvPr/>
        </p:nvSpPr>
        <p:spPr>
          <a:xfrm>
            <a:off x="9252496" y="4848225"/>
            <a:ext cx="2063204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E9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EF2E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</a:t>
            </a:r>
            <a:r>
              <a:rPr b="1" lang="en-US" sz="900">
                <a:solidFill>
                  <a:srgbClr val="EEF2E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/Weakest</a:t>
            </a:r>
            <a:r>
              <a:rPr b="1" i="0" lang="en-US" sz="900" u="none" cap="none" strike="noStrike">
                <a:solidFill>
                  <a:srgbClr val="EEF2E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products highlighted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4" name="Google Shape;374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829425" y="5543550"/>
            <a:ext cx="20955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3"/>
          <p:cNvSpPr/>
          <p:nvPr/>
        </p:nvSpPr>
        <p:spPr>
          <a:xfrm>
            <a:off x="6846540" y="5786438"/>
            <a:ext cx="2063055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E9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EF2E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complaints identified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239250" y="5543550"/>
            <a:ext cx="2085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3"/>
          <p:cNvSpPr/>
          <p:nvPr/>
        </p:nvSpPr>
        <p:spPr>
          <a:xfrm>
            <a:off x="9252496" y="5786438"/>
            <a:ext cx="2063204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E9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EF2E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 buying recommendations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762000" y="6581775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11353800" y="6581775"/>
            <a:ext cx="7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13" title="Screenshot 2026-05-08 at 11.05.22.png"/>
          <p:cNvPicPr preferRelativeResize="0"/>
          <p:nvPr/>
        </p:nvPicPr>
        <p:blipFill rotWithShape="1">
          <a:blip r:embed="rId24">
            <a:alphaModFix/>
          </a:blip>
          <a:srcRect b="0" l="0" r="0" t="-1358"/>
          <a:stretch/>
        </p:blipFill>
        <p:spPr>
          <a:xfrm>
            <a:off x="1009900" y="1828800"/>
            <a:ext cx="5255775" cy="42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6" name="Google Shape;3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7" name="Google Shape;3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8" name="Google Shape;3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1333500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9" name="Google Shape;38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1628775"/>
            <a:ext cx="107442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0" name="Google Shape;39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181927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1" name="Google Shape;39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2905125"/>
            <a:ext cx="53340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2" name="Google Shape;39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0956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3" name="Google Shape;39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34100" y="2905125"/>
            <a:ext cx="53340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4" name="Google Shape;3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4600" y="30956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5" name="Google Shape;39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3900" y="4429125"/>
            <a:ext cx="5334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6" name="Google Shape;39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46196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7" name="Google Shape;39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34100" y="4429125"/>
            <a:ext cx="5334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8" name="Google Shape;39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9" name="Google Shape;399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0600" y="1914525"/>
            <a:ext cx="2476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4"/>
          <p:cNvSpPr/>
          <p:nvPr/>
        </p:nvSpPr>
        <p:spPr>
          <a:xfrm>
            <a:off x="1495425" y="1828800"/>
            <a:ext cx="9772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Recap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1495425" y="2133600"/>
            <a:ext cx="9772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ReviewSense AI successfully combines three AI models (DistilBERT, MiniLM+KMeans, Generative AI) into a complete review analysis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2" name="Google Shape;402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650" y="31908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4"/>
          <p:cNvSpPr/>
          <p:nvPr/>
        </p:nvSpPr>
        <p:spPr>
          <a:xfrm>
            <a:off x="1495425" y="3105150"/>
            <a:ext cx="436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Version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1495425" y="3409950"/>
            <a:ext cx="43624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system that transforms 50,000+ unstructured reviews into actionable product 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5" name="Google Shape;405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38900" y="3190875"/>
            <a:ext cx="1714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4"/>
          <p:cNvSpPr/>
          <p:nvPr/>
        </p:nvSpPr>
        <p:spPr>
          <a:xfrm>
            <a:off x="6905625" y="3105150"/>
            <a:ext cx="436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Takeaway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6905625" y="3409950"/>
            <a:ext cx="4362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Multi-model NLP pipelines can automate complex analysis tasks and deliver real value to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8" name="Google Shape;408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09650" y="47148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4"/>
          <p:cNvSpPr/>
          <p:nvPr/>
        </p:nvSpPr>
        <p:spPr>
          <a:xfrm>
            <a:off x="1495425" y="4629150"/>
            <a:ext cx="436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400"/>
              <a:buFont typeface="Quattrocento Sans"/>
              <a:buNone/>
            </a:pPr>
            <a:r>
              <a:rPr b="1" i="0" lang="en-US" sz="14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Bonus Point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1495425" y="4933950"/>
            <a:ext cx="4362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system is scalable and can be adapted to any product category or review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6334125" y="4714875"/>
            <a:ext cx="49339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700"/>
              <a:buFont typeface="Quattrocento Sans"/>
              <a:buNone/>
            </a:pPr>
            <a:r>
              <a:rPr b="1" i="0" lang="en-US" sz="17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data chaos to clarity — that's the power of AI! ✨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11315700" y="63817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9" name="Google Shape;4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0" name="Google Shape;4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1" name="Google Shape;4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087" y="789214"/>
            <a:ext cx="26860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2" name="Google Shape;4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5429250"/>
            <a:ext cx="24574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3" name="Google Shape;4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71875" y="5429250"/>
            <a:ext cx="24574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4" name="Google Shape;4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2675" y="5429250"/>
            <a:ext cx="24574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5" name="Google Shape;4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3475" y="5429250"/>
            <a:ext cx="24574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6" name="Google Shape;4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6210300"/>
            <a:ext cx="106870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5"/>
          <p:cNvSpPr/>
          <p:nvPr/>
        </p:nvSpPr>
        <p:spPr>
          <a:xfrm>
            <a:off x="974612" y="217714"/>
            <a:ext cx="10668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990600" y="5125811"/>
            <a:ext cx="10210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You'll See: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9" name="Google Shape;4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565785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5"/>
          <p:cNvSpPr/>
          <p:nvPr/>
        </p:nvSpPr>
        <p:spPr>
          <a:xfrm>
            <a:off x="1381125" y="5657850"/>
            <a:ext cx="1552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900"/>
              <a:buFont typeface="Quattrocento Sans"/>
              <a:buNone/>
            </a:pPr>
            <a:r>
              <a:rPr b="1" lang="en-US" sz="9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products per cluster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95700" y="56578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5"/>
          <p:cNvSpPr/>
          <p:nvPr/>
        </p:nvSpPr>
        <p:spPr>
          <a:xfrm>
            <a:off x="3990975" y="5562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900"/>
              <a:buFont typeface="Quattrocento Sans"/>
              <a:buNone/>
            </a:pPr>
            <a:r>
              <a:rPr b="1" lang="en-US" sz="9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recommendation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5657850"/>
            <a:ext cx="2095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5"/>
          <p:cNvSpPr/>
          <p:nvPr/>
        </p:nvSpPr>
        <p:spPr>
          <a:xfrm>
            <a:off x="6600825" y="5562600"/>
            <a:ext cx="18859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900"/>
              <a:buFont typeface="Quattrocento Sans"/>
              <a:buNone/>
            </a:pPr>
            <a:r>
              <a:rPr b="1" lang="en-US" sz="900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 usual complaints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77300" y="565785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5"/>
          <p:cNvSpPr/>
          <p:nvPr/>
        </p:nvSpPr>
        <p:spPr>
          <a:xfrm>
            <a:off x="9220200" y="5562600"/>
            <a:ext cx="18573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AI-generated recommendation article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762000" y="638175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 Bootcamp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11315700" y="63817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93F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2169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9" name="Google Shape;439;p15" title="Screen Recording 2026-05-08 at 12.36.48.mov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81075" y="966475"/>
            <a:ext cx="10448926" cy="41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5" name="Google Shape;4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6" name="Google Shape;4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7" name="Google Shape;4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9675" y="3495675"/>
            <a:ext cx="3362325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8" name="Google Shape;4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81475" y="3362325"/>
            <a:ext cx="38290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6"/>
          <p:cNvSpPr/>
          <p:nvPr/>
        </p:nvSpPr>
        <p:spPr>
          <a:xfrm>
            <a:off x="3605213" y="2157413"/>
            <a:ext cx="4981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6800"/>
              <a:buFont typeface="Quattrocento Sans"/>
              <a:buNone/>
            </a:pPr>
            <a:r>
              <a:rPr b="1" i="0" lang="en-US" sz="68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1876425" y="3786188"/>
            <a:ext cx="8439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F26"/>
              </a:buClr>
              <a:buSzPts val="2500"/>
              <a:buFont typeface="Quattrocento Sans"/>
              <a:buNone/>
            </a:pPr>
            <a:r>
              <a:rPr b="1" i="0" lang="en-US" sz="2500" u="none" cap="none" strike="noStrike">
                <a:solidFill>
                  <a:srgbClr val="143F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ReviewSense AI — AI Engineer Bootcamp Project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5472113" y="4395788"/>
            <a:ext cx="1247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4E2E"/>
              </a:buClr>
              <a:buSzPts val="1700"/>
              <a:buFont typeface="Quattrocento Sans"/>
              <a:buNone/>
            </a:pPr>
            <a:r>
              <a:rPr b="0" i="0" lang="en-US" sz="1700" u="none" cap="none" strike="noStrike">
                <a:solidFill>
                  <a:srgbClr val="194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